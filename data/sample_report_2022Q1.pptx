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0000" cy="6858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0000" y="3419000"/>
            <a:ext cx="11972000" cy="2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0000" y="1200000"/>
            <a:ext cx="11692000" cy="1000000"/>
          </a:xfrm>
          <a:prstGeom prst="rect">
            <a:avLst/>
          </a:prstGeom>
          <a:noFill/>
        </p:spPr>
        <p:txBody>
          <a:bodyPr wrap="square">
            <a:spAutoFit/>
          </a:bodyPr>
          <a:lstStyle/>
          <a:p>
            <a:pPr algn="l"/>
            <a:r>
              <a:rPr sz="1600" b="0" i="0">
                <a:solidFill>
                  <a:srgbClr val="CCD6E8"/>
                </a:solidFill>
                <a:latin typeface="Arial"/>
              </a:rPr>
              <a:t>2022年 第1四半期</a:t>
            </a:r>
          </a:p>
        </p:txBody>
      </p:sp>
      <p:sp>
        <p:nvSpPr>
          <p:cNvPr id="6" name="TextBox 5"/>
          <p:cNvSpPr txBox="1"/>
          <p:nvPr/>
        </p:nvSpPr>
        <p:spPr>
          <a:xfrm>
            <a:off x="400000" y="2000000"/>
            <a:ext cx="11692000" cy="1200000"/>
          </a:xfrm>
          <a:prstGeom prst="rect">
            <a:avLst/>
          </a:prstGeom>
          <a:noFill/>
        </p:spPr>
        <p:txBody>
          <a:bodyPr wrap="square">
            <a:spAutoFit/>
          </a:bodyPr>
          <a:lstStyle/>
          <a:p>
            <a:pPr algn="l"/>
            <a:r>
              <a:rPr sz="4200" b="1" i="0">
                <a:solidFill>
                  <a:srgbClr val="FFFFFF"/>
                </a:solidFill>
                <a:latin typeface="Arial"/>
              </a:rPr>
              <a:t>売上報告書</a:t>
            </a:r>
          </a:p>
        </p:txBody>
      </p:sp>
      <p:sp>
        <p:nvSpPr>
          <p:cNvPr id="7" name="TextBox 6"/>
          <p:cNvSpPr txBox="1"/>
          <p:nvPr/>
        </p:nvSpPr>
        <p:spPr>
          <a:xfrm>
            <a:off x="400000" y="3200000"/>
            <a:ext cx="11692000" cy="600000"/>
          </a:xfrm>
          <a:prstGeom prst="rect">
            <a:avLst/>
          </a:prstGeom>
          <a:noFill/>
        </p:spPr>
        <p:txBody>
          <a:bodyPr wrap="square">
            <a:spAutoFit/>
          </a:bodyPr>
          <a:lstStyle/>
          <a:p>
            <a:pPr algn="l"/>
            <a:r>
              <a:rPr sz="1600" b="0" i="0">
                <a:solidFill>
                  <a:srgbClr val="CCD6E8"/>
                </a:solidFill>
                <a:latin typeface="Arial"/>
              </a:rPr>
              <a:t>2022年1月〜3月 実績</a:t>
            </a:r>
          </a:p>
        </p:txBody>
      </p:sp>
      <p:sp>
        <p:nvSpPr>
          <p:cNvPr id="8" name="TextBox 7"/>
          <p:cNvSpPr txBox="1"/>
          <p:nvPr/>
        </p:nvSpPr>
        <p:spPr>
          <a:xfrm>
            <a:off x="400000" y="5458000"/>
            <a:ext cx="11692000" cy="400000"/>
          </a:xfrm>
          <a:prstGeom prst="rect">
            <a:avLst/>
          </a:prstGeom>
          <a:noFill/>
        </p:spPr>
        <p:txBody>
          <a:bodyPr wrap="square">
            <a:spAutoFit/>
          </a:bodyPr>
          <a:lstStyle/>
          <a:p>
            <a:pPr algn="l"/>
            <a:r>
              <a:rPr sz="1100" b="0" i="0">
                <a:solidFill>
                  <a:srgbClr val="AAB8CC"/>
                </a:solidFill>
                <a:latin typeface="Arial"/>
              </a:rPr>
              <a:t>株式会社サンプル商事　営業企画部</a:t>
            </a:r>
          </a:p>
        </p:txBody>
      </p:sp>
      <p:sp>
        <p:nvSpPr>
          <p:cNvPr id="9" name="TextBox 8"/>
          <p:cNvSpPr txBox="1"/>
          <p:nvPr/>
        </p:nvSpPr>
        <p:spPr>
          <a:xfrm>
            <a:off x="400000" y="5858000"/>
            <a:ext cx="11692000" cy="400000"/>
          </a:xfrm>
          <a:prstGeom prst="rect">
            <a:avLst/>
          </a:prstGeom>
          <a:noFill/>
        </p:spPr>
        <p:txBody>
          <a:bodyPr wrap="square">
            <a:spAutoFit/>
          </a:bodyPr>
          <a:lstStyle/>
          <a:p>
            <a:pPr algn="l"/>
            <a:r>
              <a:rPr sz="1000" b="0" i="0">
                <a:solidFill>
                  <a:srgbClr val="AAB8CC"/>
                </a:solidFill>
                <a:latin typeface="Arial"/>
              </a:rPr>
              <a:t>作成日: 2022年4月5日</a:t>
            </a:r>
          </a:p>
        </p:txBody>
      </p:sp>
      <p:sp>
        <p:nvSpPr>
          <p:cNvPr id="10" name="Rectangle 9"/>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Confidential  |  Sales Report 2022年 第1四半期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0000" cy="6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000" y="100000"/>
            <a:ext cx="11692000" cy="480000"/>
          </a:xfrm>
          <a:prstGeom prst="rect">
            <a:avLst/>
          </a:prstGeom>
          <a:noFill/>
        </p:spPr>
        <p:txBody>
          <a:bodyPr wrap="square">
            <a:spAutoFit/>
          </a:bodyPr>
          <a:lstStyle/>
          <a:p>
            <a:pPr algn="l"/>
            <a:r>
              <a:rPr sz="1800" b="1" i="0">
                <a:solidFill>
                  <a:srgbClr val="FFFFFF"/>
                </a:solidFill>
                <a:latin typeface="Arial"/>
              </a:rPr>
              <a:t>売上実績（2022年 第1四半期）</a:t>
            </a:r>
          </a:p>
        </p:txBody>
      </p:sp>
      <p:sp>
        <p:nvSpPr>
          <p:cNvPr id="6" name="TextBox 5"/>
          <p:cNvSpPr txBox="1"/>
          <p:nvPr/>
        </p:nvSpPr>
        <p:spPr>
          <a:xfrm>
            <a:off x="9992000" y="100000"/>
            <a:ext cx="2100000" cy="480000"/>
          </a:xfrm>
          <a:prstGeom prst="rect">
            <a:avLst/>
          </a:prstGeom>
          <a:noFill/>
        </p:spPr>
        <p:txBody>
          <a:bodyPr wrap="square">
            <a:spAutoFit/>
          </a:bodyPr>
          <a:lstStyle/>
          <a:p>
            <a:pPr algn="r"/>
            <a:r>
              <a:rPr sz="900" b="0" i="0">
                <a:solidFill>
                  <a:srgbClr val="CCD6E8"/>
                </a:solidFill>
                <a:latin typeface="Arial"/>
              </a:rPr>
              <a:t>単位: 万円</a:t>
            </a:r>
          </a:p>
        </p:txBody>
      </p:sp>
      <p:sp>
        <p:nvSpPr>
          <p:cNvPr id="7" name="Rectangle 6"/>
          <p:cNvSpPr/>
          <p:nvPr/>
        </p:nvSpPr>
        <p:spPr>
          <a:xfrm>
            <a:off x="400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0000" y="780000"/>
            <a:ext cx="2848000" cy="12000"/>
          </a:xfrm>
          <a:prstGeom prst="rect">
            <a:avLst/>
          </a:prstGeom>
          <a:solidFill>
            <a:srgbClr val="16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00" y="840000"/>
            <a:ext cx="2748000" cy="260000"/>
          </a:xfrm>
          <a:prstGeom prst="rect">
            <a:avLst/>
          </a:prstGeom>
          <a:noFill/>
        </p:spPr>
        <p:txBody>
          <a:bodyPr wrap="square">
            <a:spAutoFit/>
          </a:bodyPr>
          <a:lstStyle/>
          <a:p>
            <a:pPr algn="l"/>
            <a:r>
              <a:rPr sz="900" b="0" i="0">
                <a:solidFill>
                  <a:srgbClr val="55657A"/>
                </a:solidFill>
                <a:latin typeface="Arial"/>
              </a:rPr>
              <a:t>総売上</a:t>
            </a:r>
          </a:p>
        </p:txBody>
      </p:sp>
      <p:sp>
        <p:nvSpPr>
          <p:cNvPr id="10" name="TextBox 9"/>
          <p:cNvSpPr txBox="1"/>
          <p:nvPr/>
        </p:nvSpPr>
        <p:spPr>
          <a:xfrm>
            <a:off x="480000" y="1060000"/>
            <a:ext cx="2748000" cy="320000"/>
          </a:xfrm>
          <a:prstGeom prst="rect">
            <a:avLst/>
          </a:prstGeom>
          <a:noFill/>
        </p:spPr>
        <p:txBody>
          <a:bodyPr wrap="square">
            <a:spAutoFit/>
          </a:bodyPr>
          <a:lstStyle/>
          <a:p>
            <a:pPr algn="l"/>
            <a:r>
              <a:rPr sz="1500" b="1" i="0">
                <a:solidFill>
                  <a:srgbClr val="1A1A2E"/>
                </a:solidFill>
                <a:latin typeface="Arial"/>
              </a:rPr>
              <a:t>3,320万円</a:t>
            </a:r>
          </a:p>
        </p:txBody>
      </p:sp>
      <p:sp>
        <p:nvSpPr>
          <p:cNvPr id="11" name="TextBox 10"/>
          <p:cNvSpPr txBox="1"/>
          <p:nvPr/>
        </p:nvSpPr>
        <p:spPr>
          <a:xfrm>
            <a:off x="480000" y="1340000"/>
            <a:ext cx="2748000" cy="180000"/>
          </a:xfrm>
          <a:prstGeom prst="rect">
            <a:avLst/>
          </a:prstGeom>
          <a:noFill/>
        </p:spPr>
        <p:txBody>
          <a:bodyPr wrap="square">
            <a:spAutoFit/>
          </a:bodyPr>
          <a:lstStyle/>
          <a:p>
            <a:pPr algn="l"/>
            <a:r>
              <a:rPr sz="900" b="1" i="0">
                <a:solidFill>
                  <a:srgbClr val="16753A"/>
                </a:solidFill>
                <a:latin typeface="Arial"/>
              </a:rPr>
              <a:t>+11.4%</a:t>
            </a:r>
          </a:p>
        </p:txBody>
      </p:sp>
      <p:sp>
        <p:nvSpPr>
          <p:cNvPr id="12" name="Rectangle 11"/>
          <p:cNvSpPr/>
          <p:nvPr/>
        </p:nvSpPr>
        <p:spPr>
          <a:xfrm>
            <a:off x="3328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28000" y="780000"/>
            <a:ext cx="2848000" cy="12000"/>
          </a:xfrm>
          <a:prstGeom prst="rect">
            <a:avLst/>
          </a:prstGeom>
          <a:solidFill>
            <a:srgbClr val="16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8000" y="840000"/>
            <a:ext cx="2748000" cy="260000"/>
          </a:xfrm>
          <a:prstGeom prst="rect">
            <a:avLst/>
          </a:prstGeom>
          <a:noFill/>
        </p:spPr>
        <p:txBody>
          <a:bodyPr wrap="square">
            <a:spAutoFit/>
          </a:bodyPr>
          <a:lstStyle/>
          <a:p>
            <a:pPr algn="l"/>
            <a:r>
              <a:rPr sz="900" b="0" i="0">
                <a:solidFill>
                  <a:srgbClr val="55657A"/>
                </a:solidFill>
                <a:latin typeface="Arial"/>
              </a:rPr>
              <a:t>総販売数量</a:t>
            </a:r>
          </a:p>
        </p:txBody>
      </p:sp>
      <p:sp>
        <p:nvSpPr>
          <p:cNvPr id="15" name="TextBox 14"/>
          <p:cNvSpPr txBox="1"/>
          <p:nvPr/>
        </p:nvSpPr>
        <p:spPr>
          <a:xfrm>
            <a:off x="3408000" y="1060000"/>
            <a:ext cx="2748000" cy="320000"/>
          </a:xfrm>
          <a:prstGeom prst="rect">
            <a:avLst/>
          </a:prstGeom>
          <a:noFill/>
        </p:spPr>
        <p:txBody>
          <a:bodyPr wrap="square">
            <a:spAutoFit/>
          </a:bodyPr>
          <a:lstStyle/>
          <a:p>
            <a:pPr algn="l"/>
            <a:r>
              <a:rPr sz="1500" b="1" i="0">
                <a:solidFill>
                  <a:srgbClr val="1A1A2E"/>
                </a:solidFill>
                <a:latin typeface="Arial"/>
              </a:rPr>
              <a:t>1,128 個</a:t>
            </a:r>
          </a:p>
        </p:txBody>
      </p:sp>
      <p:sp>
        <p:nvSpPr>
          <p:cNvPr id="16" name="TextBox 15"/>
          <p:cNvSpPr txBox="1"/>
          <p:nvPr/>
        </p:nvSpPr>
        <p:spPr>
          <a:xfrm>
            <a:off x="3408000" y="1340000"/>
            <a:ext cx="2748000" cy="180000"/>
          </a:xfrm>
          <a:prstGeom prst="rect">
            <a:avLst/>
          </a:prstGeom>
          <a:noFill/>
        </p:spPr>
        <p:txBody>
          <a:bodyPr wrap="square">
            <a:spAutoFit/>
          </a:bodyPr>
          <a:lstStyle/>
          <a:p>
            <a:pPr algn="l"/>
            <a:r>
              <a:rPr sz="900" b="1" i="0">
                <a:solidFill>
                  <a:srgbClr val="16753A"/>
                </a:solidFill>
                <a:latin typeface="Arial"/>
              </a:rPr>
              <a:t>+11.5%</a:t>
            </a:r>
          </a:p>
        </p:txBody>
      </p:sp>
      <p:sp>
        <p:nvSpPr>
          <p:cNvPr id="17" name="Rectangle 16"/>
          <p:cNvSpPr/>
          <p:nvPr/>
        </p:nvSpPr>
        <p:spPr>
          <a:xfrm>
            <a:off x="6256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6000" y="780000"/>
            <a:ext cx="2848000" cy="12000"/>
          </a:xfrm>
          <a:prstGeom prst="rect">
            <a:avLst/>
          </a:prstGeom>
          <a:solidFill>
            <a:srgbClr val="16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000" y="840000"/>
            <a:ext cx="2748000" cy="260000"/>
          </a:xfrm>
          <a:prstGeom prst="rect">
            <a:avLst/>
          </a:prstGeom>
          <a:noFill/>
        </p:spPr>
        <p:txBody>
          <a:bodyPr wrap="square">
            <a:spAutoFit/>
          </a:bodyPr>
          <a:lstStyle/>
          <a:p>
            <a:pPr algn="l"/>
            <a:r>
              <a:rPr sz="900" b="0" i="0">
                <a:solidFill>
                  <a:srgbClr val="55657A"/>
                </a:solidFill>
                <a:latin typeface="Arial"/>
              </a:rPr>
              <a:t>平均利益率</a:t>
            </a:r>
          </a:p>
        </p:txBody>
      </p:sp>
      <p:sp>
        <p:nvSpPr>
          <p:cNvPr id="20" name="TextBox 19"/>
          <p:cNvSpPr txBox="1"/>
          <p:nvPr/>
        </p:nvSpPr>
        <p:spPr>
          <a:xfrm>
            <a:off x="6336000" y="1060000"/>
            <a:ext cx="2748000" cy="320000"/>
          </a:xfrm>
          <a:prstGeom prst="rect">
            <a:avLst/>
          </a:prstGeom>
          <a:noFill/>
        </p:spPr>
        <p:txBody>
          <a:bodyPr wrap="square">
            <a:spAutoFit/>
          </a:bodyPr>
          <a:lstStyle/>
          <a:p>
            <a:pPr algn="l"/>
            <a:r>
              <a:rPr sz="1500" b="1" i="0">
                <a:solidFill>
                  <a:srgbClr val="1A1A2E"/>
                </a:solidFill>
                <a:latin typeface="Arial"/>
              </a:rPr>
              <a:t>51.5%</a:t>
            </a:r>
          </a:p>
        </p:txBody>
      </p:sp>
      <p:sp>
        <p:nvSpPr>
          <p:cNvPr id="21" name="TextBox 20"/>
          <p:cNvSpPr txBox="1"/>
          <p:nvPr/>
        </p:nvSpPr>
        <p:spPr>
          <a:xfrm>
            <a:off x="6336000" y="1340000"/>
            <a:ext cx="2748000" cy="180000"/>
          </a:xfrm>
          <a:prstGeom prst="rect">
            <a:avLst/>
          </a:prstGeom>
          <a:noFill/>
        </p:spPr>
        <p:txBody>
          <a:bodyPr wrap="square">
            <a:spAutoFit/>
          </a:bodyPr>
          <a:lstStyle/>
          <a:p>
            <a:pPr algn="l"/>
            <a:r>
              <a:rPr sz="900" b="1" i="0">
                <a:solidFill>
                  <a:srgbClr val="16753A"/>
                </a:solidFill>
                <a:latin typeface="Arial"/>
              </a:rPr>
              <a:t>+0.7pt</a:t>
            </a:r>
          </a:p>
        </p:txBody>
      </p:sp>
      <p:sp>
        <p:nvSpPr>
          <p:cNvPr id="22" name="Rectangle 21"/>
          <p:cNvSpPr/>
          <p:nvPr/>
        </p:nvSpPr>
        <p:spPr>
          <a:xfrm>
            <a:off x="9184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4000" y="780000"/>
            <a:ext cx="2848000" cy="12000"/>
          </a:xfrm>
          <a:prstGeom prst="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64000" y="840000"/>
            <a:ext cx="2748000" cy="260000"/>
          </a:xfrm>
          <a:prstGeom prst="rect">
            <a:avLst/>
          </a:prstGeom>
          <a:noFill/>
        </p:spPr>
        <p:txBody>
          <a:bodyPr wrap="square">
            <a:spAutoFit/>
          </a:bodyPr>
          <a:lstStyle/>
          <a:p>
            <a:pPr algn="l"/>
            <a:r>
              <a:rPr sz="900" b="0" i="0">
                <a:solidFill>
                  <a:srgbClr val="55657A"/>
                </a:solidFill>
                <a:latin typeface="Arial"/>
              </a:rPr>
              <a:t>最高売上商品</a:t>
            </a:r>
          </a:p>
        </p:txBody>
      </p:sp>
      <p:sp>
        <p:nvSpPr>
          <p:cNvPr id="25" name="TextBox 24"/>
          <p:cNvSpPr txBox="1"/>
          <p:nvPr/>
        </p:nvSpPr>
        <p:spPr>
          <a:xfrm>
            <a:off x="9264000" y="1060000"/>
            <a:ext cx="2748000" cy="320000"/>
          </a:xfrm>
          <a:prstGeom prst="rect">
            <a:avLst/>
          </a:prstGeom>
          <a:noFill/>
        </p:spPr>
        <p:txBody>
          <a:bodyPr wrap="square">
            <a:spAutoFit/>
          </a:bodyPr>
          <a:lstStyle/>
          <a:p>
            <a:pPr algn="l"/>
            <a:r>
              <a:rPr sz="1500" b="1" i="0">
                <a:solidFill>
                  <a:srgbClr val="1A1A2E"/>
                </a:solidFill>
                <a:latin typeface="Arial"/>
              </a:rPr>
              <a:t>プレミアムP</a:t>
            </a:r>
          </a:p>
        </p:txBody>
      </p:sp>
      <p:sp>
        <p:nvSpPr>
          <p:cNvPr id="26" name="TextBox 25"/>
          <p:cNvSpPr txBox="1"/>
          <p:nvPr/>
        </p:nvSpPr>
        <p:spPr>
          <a:xfrm>
            <a:off x="9264000" y="1340000"/>
            <a:ext cx="2748000" cy="180000"/>
          </a:xfrm>
          <a:prstGeom prst="rect">
            <a:avLst/>
          </a:prstGeom>
          <a:noFill/>
        </p:spPr>
        <p:txBody>
          <a:bodyPr wrap="square">
            <a:spAutoFit/>
          </a:bodyPr>
          <a:lstStyle/>
          <a:p>
            <a:pPr algn="l"/>
            <a:r>
              <a:rPr sz="900" b="1" i="0">
                <a:solidFill>
                  <a:srgbClr val="1A56A0"/>
                </a:solidFill>
                <a:latin typeface="Arial"/>
              </a:rPr>
              <a:t>¥1,280万</a:t>
            </a:r>
          </a:p>
        </p:txBody>
      </p:sp>
      <p:sp>
        <p:nvSpPr>
          <p:cNvPr id="27" name="Rectangle 26"/>
          <p:cNvSpPr/>
          <p:nvPr/>
        </p:nvSpPr>
        <p:spPr>
          <a:xfrm>
            <a:off x="400000" y="1620000"/>
            <a:ext cx="32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000" y="1700000"/>
            <a:ext cx="280000" cy="360000"/>
          </a:xfrm>
          <a:prstGeom prst="rect">
            <a:avLst/>
          </a:prstGeom>
          <a:noFill/>
        </p:spPr>
        <p:txBody>
          <a:bodyPr wrap="square">
            <a:spAutoFit/>
          </a:bodyPr>
          <a:lstStyle/>
          <a:p>
            <a:pPr algn="ctr"/>
            <a:r>
              <a:rPr sz="900" b="1" i="0">
                <a:solidFill>
                  <a:srgbClr val="FFFFFF"/>
                </a:solidFill>
                <a:latin typeface="Arial"/>
              </a:rPr>
              <a:t>月</a:t>
            </a:r>
          </a:p>
        </p:txBody>
      </p:sp>
      <p:sp>
        <p:nvSpPr>
          <p:cNvPr id="29" name="Rectangle 28"/>
          <p:cNvSpPr/>
          <p:nvPr/>
        </p:nvSpPr>
        <p:spPr>
          <a:xfrm>
            <a:off x="720000" y="1620000"/>
            <a:ext cx="138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000" y="1700000"/>
            <a:ext cx="1340000" cy="360000"/>
          </a:xfrm>
          <a:prstGeom prst="rect">
            <a:avLst/>
          </a:prstGeom>
          <a:noFill/>
        </p:spPr>
        <p:txBody>
          <a:bodyPr wrap="square">
            <a:spAutoFit/>
          </a:bodyPr>
          <a:lstStyle/>
          <a:p>
            <a:pPr algn="ctr"/>
            <a:r>
              <a:rPr sz="900" b="1" i="0">
                <a:solidFill>
                  <a:srgbClr val="FFFFFF"/>
                </a:solidFill>
                <a:latin typeface="Arial"/>
              </a:rPr>
              <a:t>プレミアムP</a:t>
            </a:r>
          </a:p>
        </p:txBody>
      </p:sp>
      <p:sp>
        <p:nvSpPr>
          <p:cNvPr id="31" name="Rectangle 30"/>
          <p:cNvSpPr/>
          <p:nvPr/>
        </p:nvSpPr>
        <p:spPr>
          <a:xfrm>
            <a:off x="2100000" y="1620000"/>
            <a:ext cx="138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30000" y="1700000"/>
            <a:ext cx="1340000" cy="360000"/>
          </a:xfrm>
          <a:prstGeom prst="rect">
            <a:avLst/>
          </a:prstGeom>
          <a:noFill/>
        </p:spPr>
        <p:txBody>
          <a:bodyPr wrap="square">
            <a:spAutoFit/>
          </a:bodyPr>
          <a:lstStyle/>
          <a:p>
            <a:pPr algn="ctr"/>
            <a:r>
              <a:rPr sz="900" b="1" i="0">
                <a:solidFill>
                  <a:srgbClr val="FFFFFF"/>
                </a:solidFill>
                <a:latin typeface="Arial"/>
              </a:rPr>
              <a:t>スタンダードP</a:t>
            </a:r>
          </a:p>
        </p:txBody>
      </p:sp>
      <p:sp>
        <p:nvSpPr>
          <p:cNvPr id="33" name="Rectangle 32"/>
          <p:cNvSpPr/>
          <p:nvPr/>
        </p:nvSpPr>
        <p:spPr>
          <a:xfrm>
            <a:off x="3480000" y="1620000"/>
            <a:ext cx="170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10000" y="1700000"/>
            <a:ext cx="1660000" cy="360000"/>
          </a:xfrm>
          <a:prstGeom prst="rect">
            <a:avLst/>
          </a:prstGeom>
          <a:noFill/>
        </p:spPr>
        <p:txBody>
          <a:bodyPr wrap="square">
            <a:spAutoFit/>
          </a:bodyPr>
          <a:lstStyle/>
          <a:p>
            <a:pPr algn="ctr"/>
            <a:r>
              <a:rPr sz="900" b="1" i="0">
                <a:solidFill>
                  <a:srgbClr val="FFFFFF"/>
                </a:solidFill>
                <a:latin typeface="Arial"/>
              </a:rPr>
              <a:t>コンサルティング</a:t>
            </a:r>
          </a:p>
        </p:txBody>
      </p:sp>
      <p:sp>
        <p:nvSpPr>
          <p:cNvPr id="35" name="Rectangle 34"/>
          <p:cNvSpPr/>
          <p:nvPr/>
        </p:nvSpPr>
        <p:spPr>
          <a:xfrm>
            <a:off x="5180000" y="1620000"/>
            <a:ext cx="90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0000" y="1700000"/>
            <a:ext cx="860000" cy="360000"/>
          </a:xfrm>
          <a:prstGeom prst="rect">
            <a:avLst/>
          </a:prstGeom>
          <a:noFill/>
        </p:spPr>
        <p:txBody>
          <a:bodyPr wrap="square">
            <a:spAutoFit/>
          </a:bodyPr>
          <a:lstStyle/>
          <a:p>
            <a:pPr algn="ctr"/>
            <a:r>
              <a:rPr sz="900" b="1" i="0">
                <a:solidFill>
                  <a:srgbClr val="FFFFFF"/>
                </a:solidFill>
                <a:latin typeface="Arial"/>
              </a:rPr>
              <a:t>保守S</a:t>
            </a:r>
          </a:p>
        </p:txBody>
      </p:sp>
      <p:sp>
        <p:nvSpPr>
          <p:cNvPr id="37" name="Rectangle 36"/>
          <p:cNvSpPr/>
          <p:nvPr/>
        </p:nvSpPr>
        <p:spPr>
          <a:xfrm>
            <a:off x="6080000" y="1620000"/>
            <a:ext cx="115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10000" y="1700000"/>
            <a:ext cx="1110000" cy="360000"/>
          </a:xfrm>
          <a:prstGeom prst="rect">
            <a:avLst/>
          </a:prstGeom>
          <a:noFill/>
        </p:spPr>
        <p:txBody>
          <a:bodyPr wrap="square">
            <a:spAutoFit/>
          </a:bodyPr>
          <a:lstStyle/>
          <a:p>
            <a:pPr algn="ctr"/>
            <a:r>
              <a:rPr sz="900" b="1" i="0">
                <a:solidFill>
                  <a:srgbClr val="FFFFFF"/>
                </a:solidFill>
                <a:latin typeface="Arial"/>
              </a:rPr>
              <a:t>合計</a:t>
            </a:r>
          </a:p>
        </p:txBody>
      </p:sp>
      <p:sp>
        <p:nvSpPr>
          <p:cNvPr id="39" name="Rectangle 38"/>
          <p:cNvSpPr/>
          <p:nvPr/>
        </p:nvSpPr>
        <p:spPr>
          <a:xfrm>
            <a:off x="7230000" y="1620000"/>
            <a:ext cx="90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0000" y="1700000"/>
            <a:ext cx="860000" cy="360000"/>
          </a:xfrm>
          <a:prstGeom prst="rect">
            <a:avLst/>
          </a:prstGeom>
          <a:noFill/>
        </p:spPr>
        <p:txBody>
          <a:bodyPr wrap="square">
            <a:spAutoFit/>
          </a:bodyPr>
          <a:lstStyle/>
          <a:p>
            <a:pPr algn="ctr"/>
            <a:r>
              <a:rPr sz="900" b="1" i="0">
                <a:solidFill>
                  <a:srgbClr val="FFFFFF"/>
                </a:solidFill>
                <a:latin typeface="Arial"/>
              </a:rPr>
              <a:t>利益率</a:t>
            </a:r>
          </a:p>
        </p:txBody>
      </p:sp>
      <p:sp>
        <p:nvSpPr>
          <p:cNvPr id="41" name="Rectangle 40"/>
          <p:cNvSpPr/>
          <p:nvPr/>
        </p:nvSpPr>
        <p:spPr>
          <a:xfrm>
            <a:off x="400000" y="2060000"/>
            <a:ext cx="32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000" y="2140000"/>
            <a:ext cx="280000" cy="360000"/>
          </a:xfrm>
          <a:prstGeom prst="rect">
            <a:avLst/>
          </a:prstGeom>
          <a:noFill/>
        </p:spPr>
        <p:txBody>
          <a:bodyPr wrap="square">
            <a:spAutoFit/>
          </a:bodyPr>
          <a:lstStyle/>
          <a:p>
            <a:pPr algn="ctr"/>
            <a:r>
              <a:rPr sz="950" b="0" i="0">
                <a:solidFill>
                  <a:srgbClr val="1A1A2E"/>
                </a:solidFill>
                <a:latin typeface="Arial"/>
              </a:rPr>
              <a:t>1月</a:t>
            </a:r>
          </a:p>
        </p:txBody>
      </p:sp>
      <p:sp>
        <p:nvSpPr>
          <p:cNvPr id="43" name="Rectangle 42"/>
          <p:cNvSpPr/>
          <p:nvPr/>
        </p:nvSpPr>
        <p:spPr>
          <a:xfrm>
            <a:off x="720000" y="206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000" y="2140000"/>
            <a:ext cx="1340000" cy="360000"/>
          </a:xfrm>
          <a:prstGeom prst="rect">
            <a:avLst/>
          </a:prstGeom>
          <a:noFill/>
        </p:spPr>
        <p:txBody>
          <a:bodyPr wrap="square">
            <a:spAutoFit/>
          </a:bodyPr>
          <a:lstStyle/>
          <a:p>
            <a:pPr algn="ctr"/>
            <a:r>
              <a:rPr sz="950" b="0" i="0">
                <a:solidFill>
                  <a:srgbClr val="1A1A2E"/>
                </a:solidFill>
                <a:latin typeface="Arial"/>
              </a:rPr>
              <a:t>430万</a:t>
            </a:r>
          </a:p>
        </p:txBody>
      </p:sp>
      <p:sp>
        <p:nvSpPr>
          <p:cNvPr id="45" name="Rectangle 44"/>
          <p:cNvSpPr/>
          <p:nvPr/>
        </p:nvSpPr>
        <p:spPr>
          <a:xfrm>
            <a:off x="2100000" y="206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30000" y="2140000"/>
            <a:ext cx="1340000" cy="360000"/>
          </a:xfrm>
          <a:prstGeom prst="rect">
            <a:avLst/>
          </a:prstGeom>
          <a:noFill/>
        </p:spPr>
        <p:txBody>
          <a:bodyPr wrap="square">
            <a:spAutoFit/>
          </a:bodyPr>
          <a:lstStyle/>
          <a:p>
            <a:pPr algn="ctr"/>
            <a:r>
              <a:rPr sz="950" b="0" i="0">
                <a:solidFill>
                  <a:srgbClr val="1A1A2E"/>
                </a:solidFill>
                <a:latin typeface="Arial"/>
              </a:rPr>
              <a:t>275万</a:t>
            </a:r>
          </a:p>
        </p:txBody>
      </p:sp>
      <p:sp>
        <p:nvSpPr>
          <p:cNvPr id="47" name="Rectangle 46"/>
          <p:cNvSpPr/>
          <p:nvPr/>
        </p:nvSpPr>
        <p:spPr>
          <a:xfrm>
            <a:off x="3480000" y="2060000"/>
            <a:ext cx="17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10000" y="2140000"/>
            <a:ext cx="1660000" cy="360000"/>
          </a:xfrm>
          <a:prstGeom prst="rect">
            <a:avLst/>
          </a:prstGeom>
          <a:noFill/>
        </p:spPr>
        <p:txBody>
          <a:bodyPr wrap="square">
            <a:spAutoFit/>
          </a:bodyPr>
          <a:lstStyle/>
          <a:p>
            <a:pPr algn="ctr"/>
            <a:r>
              <a:rPr sz="950" b="0" i="0">
                <a:solidFill>
                  <a:srgbClr val="1A1A2E"/>
                </a:solidFill>
                <a:latin typeface="Arial"/>
              </a:rPr>
              <a:t>320万</a:t>
            </a:r>
          </a:p>
        </p:txBody>
      </p:sp>
      <p:sp>
        <p:nvSpPr>
          <p:cNvPr id="49" name="Rectangle 48"/>
          <p:cNvSpPr/>
          <p:nvPr/>
        </p:nvSpPr>
        <p:spPr>
          <a:xfrm>
            <a:off x="5180000" y="206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10000" y="2140000"/>
            <a:ext cx="860000" cy="360000"/>
          </a:xfrm>
          <a:prstGeom prst="rect">
            <a:avLst/>
          </a:prstGeom>
          <a:noFill/>
        </p:spPr>
        <p:txBody>
          <a:bodyPr wrap="square">
            <a:spAutoFit/>
          </a:bodyPr>
          <a:lstStyle/>
          <a:p>
            <a:pPr algn="ctr"/>
            <a:r>
              <a:rPr sz="950" b="0" i="0">
                <a:solidFill>
                  <a:srgbClr val="1A1A2E"/>
                </a:solidFill>
                <a:latin typeface="Arial"/>
              </a:rPr>
              <a:t>83万</a:t>
            </a:r>
          </a:p>
        </p:txBody>
      </p:sp>
      <p:sp>
        <p:nvSpPr>
          <p:cNvPr id="51" name="Rectangle 50"/>
          <p:cNvSpPr/>
          <p:nvPr/>
        </p:nvSpPr>
        <p:spPr>
          <a:xfrm>
            <a:off x="6080000" y="2060000"/>
            <a:ext cx="115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10000" y="2140000"/>
            <a:ext cx="1110000" cy="360000"/>
          </a:xfrm>
          <a:prstGeom prst="rect">
            <a:avLst/>
          </a:prstGeom>
          <a:noFill/>
        </p:spPr>
        <p:txBody>
          <a:bodyPr wrap="square">
            <a:spAutoFit/>
          </a:bodyPr>
          <a:lstStyle/>
          <a:p>
            <a:pPr algn="ctr"/>
            <a:r>
              <a:rPr sz="950" b="0" i="0">
                <a:solidFill>
                  <a:srgbClr val="1A1A2E"/>
                </a:solidFill>
                <a:latin typeface="Arial"/>
              </a:rPr>
              <a:t>1,108万</a:t>
            </a:r>
          </a:p>
        </p:txBody>
      </p:sp>
      <p:sp>
        <p:nvSpPr>
          <p:cNvPr id="53" name="Rectangle 52"/>
          <p:cNvSpPr/>
          <p:nvPr/>
        </p:nvSpPr>
        <p:spPr>
          <a:xfrm>
            <a:off x="7230000" y="206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60000" y="2140000"/>
            <a:ext cx="860000" cy="360000"/>
          </a:xfrm>
          <a:prstGeom prst="rect">
            <a:avLst/>
          </a:prstGeom>
          <a:noFill/>
        </p:spPr>
        <p:txBody>
          <a:bodyPr wrap="square">
            <a:spAutoFit/>
          </a:bodyPr>
          <a:lstStyle/>
          <a:p>
            <a:pPr algn="ctr"/>
            <a:r>
              <a:rPr sz="950" b="0" i="0">
                <a:solidFill>
                  <a:srgbClr val="1A1A2E"/>
                </a:solidFill>
                <a:latin typeface="Arial"/>
              </a:rPr>
              <a:t>52.0%</a:t>
            </a:r>
          </a:p>
        </p:txBody>
      </p:sp>
      <p:sp>
        <p:nvSpPr>
          <p:cNvPr id="55" name="Rectangle 54"/>
          <p:cNvSpPr/>
          <p:nvPr/>
        </p:nvSpPr>
        <p:spPr>
          <a:xfrm>
            <a:off x="400000" y="2500000"/>
            <a:ext cx="32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0000" y="2580000"/>
            <a:ext cx="280000" cy="360000"/>
          </a:xfrm>
          <a:prstGeom prst="rect">
            <a:avLst/>
          </a:prstGeom>
          <a:noFill/>
        </p:spPr>
        <p:txBody>
          <a:bodyPr wrap="square">
            <a:spAutoFit/>
          </a:bodyPr>
          <a:lstStyle/>
          <a:p>
            <a:pPr algn="ctr"/>
            <a:r>
              <a:rPr sz="950" b="0" i="0">
                <a:solidFill>
                  <a:srgbClr val="1A1A2E"/>
                </a:solidFill>
                <a:latin typeface="Arial"/>
              </a:rPr>
              <a:t>2月</a:t>
            </a:r>
          </a:p>
        </p:txBody>
      </p:sp>
      <p:sp>
        <p:nvSpPr>
          <p:cNvPr id="57" name="Rectangle 56"/>
          <p:cNvSpPr/>
          <p:nvPr/>
        </p:nvSpPr>
        <p:spPr>
          <a:xfrm>
            <a:off x="720000" y="2500000"/>
            <a:ext cx="138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0000" y="2580000"/>
            <a:ext cx="1340000" cy="360000"/>
          </a:xfrm>
          <a:prstGeom prst="rect">
            <a:avLst/>
          </a:prstGeom>
          <a:noFill/>
        </p:spPr>
        <p:txBody>
          <a:bodyPr wrap="square">
            <a:spAutoFit/>
          </a:bodyPr>
          <a:lstStyle/>
          <a:p>
            <a:pPr algn="ctr"/>
            <a:r>
              <a:rPr sz="950" b="0" i="0">
                <a:solidFill>
                  <a:srgbClr val="1A1A2E"/>
                </a:solidFill>
                <a:latin typeface="Arial"/>
              </a:rPr>
              <a:t>415万</a:t>
            </a:r>
          </a:p>
        </p:txBody>
      </p:sp>
      <p:sp>
        <p:nvSpPr>
          <p:cNvPr id="59" name="Rectangle 58"/>
          <p:cNvSpPr/>
          <p:nvPr/>
        </p:nvSpPr>
        <p:spPr>
          <a:xfrm>
            <a:off x="2100000" y="2500000"/>
            <a:ext cx="138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130000" y="2580000"/>
            <a:ext cx="1340000" cy="360000"/>
          </a:xfrm>
          <a:prstGeom prst="rect">
            <a:avLst/>
          </a:prstGeom>
          <a:noFill/>
        </p:spPr>
        <p:txBody>
          <a:bodyPr wrap="square">
            <a:spAutoFit/>
          </a:bodyPr>
          <a:lstStyle/>
          <a:p>
            <a:pPr algn="ctr"/>
            <a:r>
              <a:rPr sz="950" b="0" i="0">
                <a:solidFill>
                  <a:srgbClr val="1A1A2E"/>
                </a:solidFill>
                <a:latin typeface="Arial"/>
              </a:rPr>
              <a:t>265万</a:t>
            </a:r>
          </a:p>
        </p:txBody>
      </p:sp>
      <p:sp>
        <p:nvSpPr>
          <p:cNvPr id="61" name="Rectangle 60"/>
          <p:cNvSpPr/>
          <p:nvPr/>
        </p:nvSpPr>
        <p:spPr>
          <a:xfrm>
            <a:off x="3480000" y="2500000"/>
            <a:ext cx="170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510000" y="2580000"/>
            <a:ext cx="1660000" cy="360000"/>
          </a:xfrm>
          <a:prstGeom prst="rect">
            <a:avLst/>
          </a:prstGeom>
          <a:noFill/>
        </p:spPr>
        <p:txBody>
          <a:bodyPr wrap="square">
            <a:spAutoFit/>
          </a:bodyPr>
          <a:lstStyle/>
          <a:p>
            <a:pPr algn="ctr"/>
            <a:r>
              <a:rPr sz="950" b="0" i="0">
                <a:solidFill>
                  <a:srgbClr val="1A1A2E"/>
                </a:solidFill>
                <a:latin typeface="Arial"/>
              </a:rPr>
              <a:t>340万</a:t>
            </a:r>
          </a:p>
        </p:txBody>
      </p:sp>
      <p:sp>
        <p:nvSpPr>
          <p:cNvPr id="63" name="Rectangle 62"/>
          <p:cNvSpPr/>
          <p:nvPr/>
        </p:nvSpPr>
        <p:spPr>
          <a:xfrm>
            <a:off x="5180000" y="2500000"/>
            <a:ext cx="90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10000" y="2580000"/>
            <a:ext cx="860000" cy="360000"/>
          </a:xfrm>
          <a:prstGeom prst="rect">
            <a:avLst/>
          </a:prstGeom>
          <a:noFill/>
        </p:spPr>
        <p:txBody>
          <a:bodyPr wrap="square">
            <a:spAutoFit/>
          </a:bodyPr>
          <a:lstStyle/>
          <a:p>
            <a:pPr algn="ctr"/>
            <a:r>
              <a:rPr sz="950" b="0" i="0">
                <a:solidFill>
                  <a:srgbClr val="1A1A2E"/>
                </a:solidFill>
                <a:latin typeface="Arial"/>
              </a:rPr>
              <a:t>82万</a:t>
            </a:r>
          </a:p>
        </p:txBody>
      </p:sp>
      <p:sp>
        <p:nvSpPr>
          <p:cNvPr id="65" name="Rectangle 64"/>
          <p:cNvSpPr/>
          <p:nvPr/>
        </p:nvSpPr>
        <p:spPr>
          <a:xfrm>
            <a:off x="6080000" y="2500000"/>
            <a:ext cx="115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10000" y="2580000"/>
            <a:ext cx="1110000" cy="360000"/>
          </a:xfrm>
          <a:prstGeom prst="rect">
            <a:avLst/>
          </a:prstGeom>
          <a:noFill/>
        </p:spPr>
        <p:txBody>
          <a:bodyPr wrap="square">
            <a:spAutoFit/>
          </a:bodyPr>
          <a:lstStyle/>
          <a:p>
            <a:pPr algn="ctr"/>
            <a:r>
              <a:rPr sz="950" b="0" i="0">
                <a:solidFill>
                  <a:srgbClr val="1A1A2E"/>
                </a:solidFill>
                <a:latin typeface="Arial"/>
              </a:rPr>
              <a:t>1,102万</a:t>
            </a:r>
          </a:p>
        </p:txBody>
      </p:sp>
      <p:sp>
        <p:nvSpPr>
          <p:cNvPr id="67" name="Rectangle 66"/>
          <p:cNvSpPr/>
          <p:nvPr/>
        </p:nvSpPr>
        <p:spPr>
          <a:xfrm>
            <a:off x="7230000" y="2500000"/>
            <a:ext cx="90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60000" y="2580000"/>
            <a:ext cx="860000" cy="360000"/>
          </a:xfrm>
          <a:prstGeom prst="rect">
            <a:avLst/>
          </a:prstGeom>
          <a:noFill/>
        </p:spPr>
        <p:txBody>
          <a:bodyPr wrap="square">
            <a:spAutoFit/>
          </a:bodyPr>
          <a:lstStyle/>
          <a:p>
            <a:pPr algn="ctr"/>
            <a:r>
              <a:rPr sz="950" b="0" i="0">
                <a:solidFill>
                  <a:srgbClr val="1A1A2E"/>
                </a:solidFill>
                <a:latin typeface="Arial"/>
              </a:rPr>
              <a:t>51.2%</a:t>
            </a:r>
          </a:p>
        </p:txBody>
      </p:sp>
      <p:sp>
        <p:nvSpPr>
          <p:cNvPr id="69" name="Rectangle 68"/>
          <p:cNvSpPr/>
          <p:nvPr/>
        </p:nvSpPr>
        <p:spPr>
          <a:xfrm>
            <a:off x="400000" y="2940000"/>
            <a:ext cx="32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0000" y="3020000"/>
            <a:ext cx="280000" cy="360000"/>
          </a:xfrm>
          <a:prstGeom prst="rect">
            <a:avLst/>
          </a:prstGeom>
          <a:noFill/>
        </p:spPr>
        <p:txBody>
          <a:bodyPr wrap="square">
            <a:spAutoFit/>
          </a:bodyPr>
          <a:lstStyle/>
          <a:p>
            <a:pPr algn="ctr"/>
            <a:r>
              <a:rPr sz="950" b="0" i="0">
                <a:solidFill>
                  <a:srgbClr val="1A1A2E"/>
                </a:solidFill>
                <a:latin typeface="Arial"/>
              </a:rPr>
              <a:t>3月</a:t>
            </a:r>
          </a:p>
        </p:txBody>
      </p:sp>
      <p:sp>
        <p:nvSpPr>
          <p:cNvPr id="71" name="Rectangle 70"/>
          <p:cNvSpPr/>
          <p:nvPr/>
        </p:nvSpPr>
        <p:spPr>
          <a:xfrm>
            <a:off x="720000" y="294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0000" y="3020000"/>
            <a:ext cx="1340000" cy="360000"/>
          </a:xfrm>
          <a:prstGeom prst="rect">
            <a:avLst/>
          </a:prstGeom>
          <a:noFill/>
        </p:spPr>
        <p:txBody>
          <a:bodyPr wrap="square">
            <a:spAutoFit/>
          </a:bodyPr>
          <a:lstStyle/>
          <a:p>
            <a:pPr algn="ctr"/>
            <a:r>
              <a:rPr sz="950" b="0" i="0">
                <a:solidFill>
                  <a:srgbClr val="1A1A2E"/>
                </a:solidFill>
                <a:latin typeface="Arial"/>
              </a:rPr>
              <a:t>435万</a:t>
            </a:r>
          </a:p>
        </p:txBody>
      </p:sp>
      <p:sp>
        <p:nvSpPr>
          <p:cNvPr id="73" name="Rectangle 72"/>
          <p:cNvSpPr/>
          <p:nvPr/>
        </p:nvSpPr>
        <p:spPr>
          <a:xfrm>
            <a:off x="2100000" y="294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130000" y="3020000"/>
            <a:ext cx="1340000" cy="360000"/>
          </a:xfrm>
          <a:prstGeom prst="rect">
            <a:avLst/>
          </a:prstGeom>
          <a:noFill/>
        </p:spPr>
        <p:txBody>
          <a:bodyPr wrap="square">
            <a:spAutoFit/>
          </a:bodyPr>
          <a:lstStyle/>
          <a:p>
            <a:pPr algn="ctr"/>
            <a:r>
              <a:rPr sz="950" b="0" i="0">
                <a:solidFill>
                  <a:srgbClr val="1A1A2E"/>
                </a:solidFill>
                <a:latin typeface="Arial"/>
              </a:rPr>
              <a:t>270万</a:t>
            </a:r>
          </a:p>
        </p:txBody>
      </p:sp>
      <p:sp>
        <p:nvSpPr>
          <p:cNvPr id="75" name="Rectangle 74"/>
          <p:cNvSpPr/>
          <p:nvPr/>
        </p:nvSpPr>
        <p:spPr>
          <a:xfrm>
            <a:off x="3480000" y="2940000"/>
            <a:ext cx="17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510000" y="3020000"/>
            <a:ext cx="1660000" cy="360000"/>
          </a:xfrm>
          <a:prstGeom prst="rect">
            <a:avLst/>
          </a:prstGeom>
          <a:noFill/>
        </p:spPr>
        <p:txBody>
          <a:bodyPr wrap="square">
            <a:spAutoFit/>
          </a:bodyPr>
          <a:lstStyle/>
          <a:p>
            <a:pPr algn="ctr"/>
            <a:r>
              <a:rPr sz="950" b="0" i="0">
                <a:solidFill>
                  <a:srgbClr val="1A1A2E"/>
                </a:solidFill>
                <a:latin typeface="Arial"/>
              </a:rPr>
              <a:t>320万</a:t>
            </a:r>
          </a:p>
        </p:txBody>
      </p:sp>
      <p:sp>
        <p:nvSpPr>
          <p:cNvPr id="77" name="Rectangle 76"/>
          <p:cNvSpPr/>
          <p:nvPr/>
        </p:nvSpPr>
        <p:spPr>
          <a:xfrm>
            <a:off x="5180000" y="294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210000" y="3020000"/>
            <a:ext cx="860000" cy="360000"/>
          </a:xfrm>
          <a:prstGeom prst="rect">
            <a:avLst/>
          </a:prstGeom>
          <a:noFill/>
        </p:spPr>
        <p:txBody>
          <a:bodyPr wrap="square">
            <a:spAutoFit/>
          </a:bodyPr>
          <a:lstStyle/>
          <a:p>
            <a:pPr algn="ctr"/>
            <a:r>
              <a:rPr sz="950" b="0" i="0">
                <a:solidFill>
                  <a:srgbClr val="1A1A2E"/>
                </a:solidFill>
                <a:latin typeface="Arial"/>
              </a:rPr>
              <a:t>85万</a:t>
            </a:r>
          </a:p>
        </p:txBody>
      </p:sp>
      <p:sp>
        <p:nvSpPr>
          <p:cNvPr id="79" name="Rectangle 78"/>
          <p:cNvSpPr/>
          <p:nvPr/>
        </p:nvSpPr>
        <p:spPr>
          <a:xfrm>
            <a:off x="6080000" y="2940000"/>
            <a:ext cx="115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10000" y="3020000"/>
            <a:ext cx="1110000" cy="360000"/>
          </a:xfrm>
          <a:prstGeom prst="rect">
            <a:avLst/>
          </a:prstGeom>
          <a:noFill/>
        </p:spPr>
        <p:txBody>
          <a:bodyPr wrap="square">
            <a:spAutoFit/>
          </a:bodyPr>
          <a:lstStyle/>
          <a:p>
            <a:pPr algn="ctr"/>
            <a:r>
              <a:rPr sz="950" b="0" i="0">
                <a:solidFill>
                  <a:srgbClr val="1A1A2E"/>
                </a:solidFill>
                <a:latin typeface="Arial"/>
              </a:rPr>
              <a:t>1,110万</a:t>
            </a:r>
          </a:p>
        </p:txBody>
      </p:sp>
      <p:sp>
        <p:nvSpPr>
          <p:cNvPr id="81" name="Rectangle 80"/>
          <p:cNvSpPr/>
          <p:nvPr/>
        </p:nvSpPr>
        <p:spPr>
          <a:xfrm>
            <a:off x="7230000" y="294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260000" y="3020000"/>
            <a:ext cx="860000" cy="360000"/>
          </a:xfrm>
          <a:prstGeom prst="rect">
            <a:avLst/>
          </a:prstGeom>
          <a:noFill/>
        </p:spPr>
        <p:txBody>
          <a:bodyPr wrap="square">
            <a:spAutoFit/>
          </a:bodyPr>
          <a:lstStyle/>
          <a:p>
            <a:pPr algn="ctr"/>
            <a:r>
              <a:rPr sz="950" b="0" i="0">
                <a:solidFill>
                  <a:srgbClr val="1A1A2E"/>
                </a:solidFill>
                <a:latin typeface="Arial"/>
              </a:rPr>
              <a:t>51.2%</a:t>
            </a:r>
          </a:p>
        </p:txBody>
      </p:sp>
      <p:sp>
        <p:nvSpPr>
          <p:cNvPr id="83" name="Rectangle 82"/>
          <p:cNvSpPr/>
          <p:nvPr/>
        </p:nvSpPr>
        <p:spPr>
          <a:xfrm>
            <a:off x="400000" y="3380000"/>
            <a:ext cx="32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30000" y="3460000"/>
            <a:ext cx="280000" cy="360000"/>
          </a:xfrm>
          <a:prstGeom prst="rect">
            <a:avLst/>
          </a:prstGeom>
          <a:noFill/>
        </p:spPr>
        <p:txBody>
          <a:bodyPr wrap="square">
            <a:spAutoFit/>
          </a:bodyPr>
          <a:lstStyle/>
          <a:p>
            <a:pPr algn="ctr"/>
            <a:r>
              <a:rPr sz="950" b="1" i="0">
                <a:solidFill>
                  <a:srgbClr val="1A1A2E"/>
                </a:solidFill>
                <a:latin typeface="Arial"/>
              </a:rPr>
              <a:t>合計</a:t>
            </a:r>
          </a:p>
        </p:txBody>
      </p:sp>
      <p:sp>
        <p:nvSpPr>
          <p:cNvPr id="85" name="Rectangle 84"/>
          <p:cNvSpPr/>
          <p:nvPr/>
        </p:nvSpPr>
        <p:spPr>
          <a:xfrm>
            <a:off x="720000" y="3380000"/>
            <a:ext cx="138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50000" y="3460000"/>
            <a:ext cx="1340000" cy="360000"/>
          </a:xfrm>
          <a:prstGeom prst="rect">
            <a:avLst/>
          </a:prstGeom>
          <a:noFill/>
        </p:spPr>
        <p:txBody>
          <a:bodyPr wrap="square">
            <a:spAutoFit/>
          </a:bodyPr>
          <a:lstStyle/>
          <a:p>
            <a:pPr algn="ctr"/>
            <a:r>
              <a:rPr sz="950" b="1" i="0">
                <a:solidFill>
                  <a:srgbClr val="1A1A2E"/>
                </a:solidFill>
                <a:latin typeface="Arial"/>
              </a:rPr>
              <a:t>1,280万</a:t>
            </a:r>
          </a:p>
        </p:txBody>
      </p:sp>
      <p:sp>
        <p:nvSpPr>
          <p:cNvPr id="87" name="Rectangle 86"/>
          <p:cNvSpPr/>
          <p:nvPr/>
        </p:nvSpPr>
        <p:spPr>
          <a:xfrm>
            <a:off x="2100000" y="3380000"/>
            <a:ext cx="138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130000" y="3460000"/>
            <a:ext cx="1340000" cy="360000"/>
          </a:xfrm>
          <a:prstGeom prst="rect">
            <a:avLst/>
          </a:prstGeom>
          <a:noFill/>
        </p:spPr>
        <p:txBody>
          <a:bodyPr wrap="square">
            <a:spAutoFit/>
          </a:bodyPr>
          <a:lstStyle/>
          <a:p>
            <a:pPr algn="ctr"/>
            <a:r>
              <a:rPr sz="950" b="1" i="0">
                <a:solidFill>
                  <a:srgbClr val="1A1A2E"/>
                </a:solidFill>
                <a:latin typeface="Arial"/>
              </a:rPr>
              <a:t>810万</a:t>
            </a:r>
          </a:p>
        </p:txBody>
      </p:sp>
      <p:sp>
        <p:nvSpPr>
          <p:cNvPr id="89" name="Rectangle 88"/>
          <p:cNvSpPr/>
          <p:nvPr/>
        </p:nvSpPr>
        <p:spPr>
          <a:xfrm>
            <a:off x="3480000" y="3380000"/>
            <a:ext cx="170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510000" y="3460000"/>
            <a:ext cx="1660000" cy="360000"/>
          </a:xfrm>
          <a:prstGeom prst="rect">
            <a:avLst/>
          </a:prstGeom>
          <a:noFill/>
        </p:spPr>
        <p:txBody>
          <a:bodyPr wrap="square">
            <a:spAutoFit/>
          </a:bodyPr>
          <a:lstStyle/>
          <a:p>
            <a:pPr algn="ctr"/>
            <a:r>
              <a:rPr sz="950" b="1" i="0">
                <a:solidFill>
                  <a:srgbClr val="1A1A2E"/>
                </a:solidFill>
                <a:latin typeface="Arial"/>
              </a:rPr>
              <a:t>980万</a:t>
            </a:r>
          </a:p>
        </p:txBody>
      </p:sp>
      <p:sp>
        <p:nvSpPr>
          <p:cNvPr id="91" name="Rectangle 90"/>
          <p:cNvSpPr/>
          <p:nvPr/>
        </p:nvSpPr>
        <p:spPr>
          <a:xfrm>
            <a:off x="5180000" y="3380000"/>
            <a:ext cx="90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210000" y="3460000"/>
            <a:ext cx="860000" cy="360000"/>
          </a:xfrm>
          <a:prstGeom prst="rect">
            <a:avLst/>
          </a:prstGeom>
          <a:noFill/>
        </p:spPr>
        <p:txBody>
          <a:bodyPr wrap="square">
            <a:spAutoFit/>
          </a:bodyPr>
          <a:lstStyle/>
          <a:p>
            <a:pPr algn="ctr"/>
            <a:r>
              <a:rPr sz="950" b="1" i="0">
                <a:solidFill>
                  <a:srgbClr val="1A1A2E"/>
                </a:solidFill>
                <a:latin typeface="Arial"/>
              </a:rPr>
              <a:t>250万</a:t>
            </a:r>
          </a:p>
        </p:txBody>
      </p:sp>
      <p:sp>
        <p:nvSpPr>
          <p:cNvPr id="93" name="Rectangle 92"/>
          <p:cNvSpPr/>
          <p:nvPr/>
        </p:nvSpPr>
        <p:spPr>
          <a:xfrm>
            <a:off x="6080000" y="3380000"/>
            <a:ext cx="115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10000" y="3460000"/>
            <a:ext cx="1110000" cy="360000"/>
          </a:xfrm>
          <a:prstGeom prst="rect">
            <a:avLst/>
          </a:prstGeom>
          <a:noFill/>
        </p:spPr>
        <p:txBody>
          <a:bodyPr wrap="square">
            <a:spAutoFit/>
          </a:bodyPr>
          <a:lstStyle/>
          <a:p>
            <a:pPr algn="ctr"/>
            <a:r>
              <a:rPr sz="950" b="1" i="0">
                <a:solidFill>
                  <a:srgbClr val="16753A"/>
                </a:solidFill>
                <a:latin typeface="Arial"/>
              </a:rPr>
              <a:t>3,320万</a:t>
            </a:r>
          </a:p>
        </p:txBody>
      </p:sp>
      <p:sp>
        <p:nvSpPr>
          <p:cNvPr id="95" name="Rectangle 94"/>
          <p:cNvSpPr/>
          <p:nvPr/>
        </p:nvSpPr>
        <p:spPr>
          <a:xfrm>
            <a:off x="7230000" y="3380000"/>
            <a:ext cx="90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260000" y="3460000"/>
            <a:ext cx="860000" cy="360000"/>
          </a:xfrm>
          <a:prstGeom prst="rect">
            <a:avLst/>
          </a:prstGeom>
          <a:noFill/>
        </p:spPr>
        <p:txBody>
          <a:bodyPr wrap="square">
            <a:spAutoFit/>
          </a:bodyPr>
          <a:lstStyle/>
          <a:p>
            <a:pPr algn="ctr"/>
            <a:r>
              <a:rPr sz="950" b="1" i="0">
                <a:solidFill>
                  <a:srgbClr val="1A1A2E"/>
                </a:solidFill>
                <a:latin typeface="Arial"/>
              </a:rPr>
              <a:t>51.5%</a:t>
            </a:r>
          </a:p>
        </p:txBody>
      </p:sp>
      <p:sp>
        <p:nvSpPr>
          <p:cNvPr id="97" name="Rectangle 96"/>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社外秘 — 取扱注意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0000" cy="6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000" y="100000"/>
            <a:ext cx="11692000" cy="480000"/>
          </a:xfrm>
          <a:prstGeom prst="rect">
            <a:avLst/>
          </a:prstGeom>
          <a:noFill/>
        </p:spPr>
        <p:txBody>
          <a:bodyPr wrap="square">
            <a:spAutoFit/>
          </a:bodyPr>
          <a:lstStyle/>
          <a:p>
            <a:pPr algn="l"/>
            <a:r>
              <a:rPr sz="1800" b="1" i="0">
                <a:solidFill>
                  <a:srgbClr val="FFFFFF"/>
                </a:solidFill>
                <a:latin typeface="Arial"/>
              </a:rPr>
              <a:t>売上分析</a:t>
            </a:r>
          </a:p>
        </p:txBody>
      </p:sp>
      <p:sp>
        <p:nvSpPr>
          <p:cNvPr id="6" name="TextBox 5"/>
          <p:cNvSpPr txBox="1"/>
          <p:nvPr/>
        </p:nvSpPr>
        <p:spPr>
          <a:xfrm>
            <a:off x="9992000" y="100000"/>
            <a:ext cx="2100000" cy="480000"/>
          </a:xfrm>
          <a:prstGeom prst="rect">
            <a:avLst/>
          </a:prstGeom>
          <a:noFill/>
        </p:spPr>
        <p:txBody>
          <a:bodyPr wrap="square">
            <a:spAutoFit/>
          </a:bodyPr>
          <a:lstStyle/>
          <a:p>
            <a:pPr algn="r"/>
            <a:r>
              <a:rPr sz="900" b="0" i="0">
                <a:solidFill>
                  <a:srgbClr val="CCD6E8"/>
                </a:solidFill>
                <a:latin typeface="Arial"/>
              </a:rPr>
              <a:t>2022年 第1四半期</a:t>
            </a:r>
          </a:p>
        </p:txBody>
      </p:sp>
      <p:sp>
        <p:nvSpPr>
          <p:cNvPr id="7" name="Rectangle 6"/>
          <p:cNvSpPr/>
          <p:nvPr/>
        </p:nvSpPr>
        <p:spPr>
          <a:xfrm>
            <a:off x="400000" y="820000"/>
            <a:ext cx="5636000" cy="563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0000" y="820000"/>
            <a:ext cx="5636000" cy="38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0000" y="900000"/>
            <a:ext cx="5636000" cy="300000"/>
          </a:xfrm>
          <a:prstGeom prst="rect">
            <a:avLst/>
          </a:prstGeom>
          <a:noFill/>
        </p:spPr>
        <p:txBody>
          <a:bodyPr wrap="square">
            <a:spAutoFit/>
          </a:bodyPr>
          <a:lstStyle/>
          <a:p>
            <a:pPr algn="l"/>
            <a:r>
              <a:rPr sz="1100" b="1" i="0">
                <a:solidFill>
                  <a:srgbClr val="FFFFFF"/>
                </a:solidFill>
                <a:latin typeface="Arial"/>
              </a:rPr>
              <a:t>● 商品別売上構成</a:t>
            </a:r>
          </a:p>
        </p:txBody>
      </p:sp>
      <p:sp>
        <p:nvSpPr>
          <p:cNvPr id="10" name="Rectangle 9"/>
          <p:cNvSpPr/>
          <p:nvPr/>
        </p:nvSpPr>
        <p:spPr>
          <a:xfrm>
            <a:off x="520000" y="1240000"/>
            <a:ext cx="3867548" cy="160000"/>
          </a:xfrm>
          <a:prstGeom prst="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0000" y="1410000"/>
            <a:ext cx="5556000" cy="200000"/>
          </a:xfrm>
          <a:prstGeom prst="rect">
            <a:avLst/>
          </a:prstGeom>
          <a:noFill/>
        </p:spPr>
        <p:txBody>
          <a:bodyPr wrap="square">
            <a:spAutoFit/>
          </a:bodyPr>
          <a:lstStyle/>
          <a:p>
            <a:pPr algn="l"/>
            <a:r>
              <a:rPr sz="850" b="0" i="0">
                <a:solidFill>
                  <a:srgbClr val="1A1A2E"/>
                </a:solidFill>
                <a:latin typeface="Arial"/>
              </a:rPr>
              <a:t>プレミアムプラン  1,280万 (38.6%)</a:t>
            </a:r>
          </a:p>
        </p:txBody>
      </p:sp>
      <p:sp>
        <p:nvSpPr>
          <p:cNvPr id="12" name="Rectangle 11"/>
          <p:cNvSpPr/>
          <p:nvPr/>
        </p:nvSpPr>
        <p:spPr>
          <a:xfrm>
            <a:off x="520000" y="1620000"/>
            <a:ext cx="2955768" cy="160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000" y="1790000"/>
            <a:ext cx="5556000" cy="200000"/>
          </a:xfrm>
          <a:prstGeom prst="rect">
            <a:avLst/>
          </a:prstGeom>
          <a:noFill/>
        </p:spPr>
        <p:txBody>
          <a:bodyPr wrap="square">
            <a:spAutoFit/>
          </a:bodyPr>
          <a:lstStyle/>
          <a:p>
            <a:pPr algn="l"/>
            <a:r>
              <a:rPr sz="850" b="0" i="0">
                <a:solidFill>
                  <a:srgbClr val="1A1A2E"/>
                </a:solidFill>
                <a:latin typeface="Arial"/>
              </a:rPr>
              <a:t>コンサルティング  980万 (29.5%)</a:t>
            </a:r>
          </a:p>
        </p:txBody>
      </p:sp>
      <p:sp>
        <p:nvSpPr>
          <p:cNvPr id="14" name="Rectangle 13"/>
          <p:cNvSpPr/>
          <p:nvPr/>
        </p:nvSpPr>
        <p:spPr>
          <a:xfrm>
            <a:off x="520000" y="2000000"/>
            <a:ext cx="2444771" cy="16000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000" y="2170000"/>
            <a:ext cx="5556000" cy="200000"/>
          </a:xfrm>
          <a:prstGeom prst="rect">
            <a:avLst/>
          </a:prstGeom>
          <a:noFill/>
        </p:spPr>
        <p:txBody>
          <a:bodyPr wrap="square">
            <a:spAutoFit/>
          </a:bodyPr>
          <a:lstStyle/>
          <a:p>
            <a:pPr algn="l"/>
            <a:r>
              <a:rPr sz="850" b="0" i="0">
                <a:solidFill>
                  <a:srgbClr val="1A1A2E"/>
                </a:solidFill>
                <a:latin typeface="Arial"/>
              </a:rPr>
              <a:t>スタンダードプラン  810万 (24.4%)</a:t>
            </a:r>
          </a:p>
        </p:txBody>
      </p:sp>
      <p:sp>
        <p:nvSpPr>
          <p:cNvPr id="16" name="Rectangle 15"/>
          <p:cNvSpPr/>
          <p:nvPr/>
        </p:nvSpPr>
        <p:spPr>
          <a:xfrm>
            <a:off x="520000" y="2380000"/>
            <a:ext cx="751466" cy="16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000" y="2550000"/>
            <a:ext cx="5556000" cy="200000"/>
          </a:xfrm>
          <a:prstGeom prst="rect">
            <a:avLst/>
          </a:prstGeom>
          <a:noFill/>
        </p:spPr>
        <p:txBody>
          <a:bodyPr wrap="square">
            <a:spAutoFit/>
          </a:bodyPr>
          <a:lstStyle/>
          <a:p>
            <a:pPr algn="l"/>
            <a:r>
              <a:rPr sz="850" b="0" i="0">
                <a:solidFill>
                  <a:srgbClr val="1A1A2E"/>
                </a:solidFill>
                <a:latin typeface="Arial"/>
              </a:rPr>
              <a:t>保守サポート  250万 (7.5%)</a:t>
            </a:r>
          </a:p>
        </p:txBody>
      </p:sp>
      <p:sp>
        <p:nvSpPr>
          <p:cNvPr id="18" name="Rectangle 17"/>
          <p:cNvSpPr/>
          <p:nvPr/>
        </p:nvSpPr>
        <p:spPr>
          <a:xfrm>
            <a:off x="6156000" y="820000"/>
            <a:ext cx="5636000" cy="563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6000" y="820000"/>
            <a:ext cx="5636000" cy="3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6000" y="900000"/>
            <a:ext cx="5636000" cy="300000"/>
          </a:xfrm>
          <a:prstGeom prst="rect">
            <a:avLst/>
          </a:prstGeom>
          <a:noFill/>
        </p:spPr>
        <p:txBody>
          <a:bodyPr wrap="square">
            <a:spAutoFit/>
          </a:bodyPr>
          <a:lstStyle/>
          <a:p>
            <a:pPr algn="l"/>
            <a:r>
              <a:rPr sz="1100" b="1" i="0">
                <a:solidFill>
                  <a:srgbClr val="1B2E4C"/>
                </a:solidFill>
                <a:latin typeface="Arial"/>
              </a:rPr>
              <a:t>● 地域別売上 &amp; 前Q比</a:t>
            </a:r>
          </a:p>
        </p:txBody>
      </p:sp>
      <p:sp>
        <p:nvSpPr>
          <p:cNvPr id="21" name="Rectangle 20"/>
          <p:cNvSpPr/>
          <p:nvPr/>
        </p:nvSpPr>
        <p:spPr>
          <a:xfrm>
            <a:off x="6276000" y="126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6000" y="1280000"/>
            <a:ext cx="800000" cy="180000"/>
          </a:xfrm>
          <a:prstGeom prst="rect">
            <a:avLst/>
          </a:prstGeom>
          <a:noFill/>
        </p:spPr>
        <p:txBody>
          <a:bodyPr wrap="square">
            <a:spAutoFit/>
          </a:bodyPr>
          <a:lstStyle/>
          <a:p>
            <a:pPr algn="l"/>
            <a:r>
              <a:rPr sz="1000" b="1" i="0">
                <a:solidFill>
                  <a:srgbClr val="1A1A2E"/>
                </a:solidFill>
                <a:latin typeface="Arial"/>
              </a:rPr>
              <a:t>東京</a:t>
            </a:r>
          </a:p>
        </p:txBody>
      </p:sp>
      <p:sp>
        <p:nvSpPr>
          <p:cNvPr id="23" name="TextBox 22"/>
          <p:cNvSpPr txBox="1"/>
          <p:nvPr/>
        </p:nvSpPr>
        <p:spPr>
          <a:xfrm>
            <a:off x="7056000" y="1280000"/>
            <a:ext cx="700000" cy="180000"/>
          </a:xfrm>
          <a:prstGeom prst="rect">
            <a:avLst/>
          </a:prstGeom>
          <a:noFill/>
        </p:spPr>
        <p:txBody>
          <a:bodyPr wrap="square">
            <a:spAutoFit/>
          </a:bodyPr>
          <a:lstStyle/>
          <a:p>
            <a:pPr algn="r"/>
            <a:r>
              <a:rPr sz="1000" b="0" i="0">
                <a:solidFill>
                  <a:srgbClr val="1A1A2E"/>
                </a:solidFill>
                <a:latin typeface="Arial"/>
              </a:rPr>
              <a:t>1,265万</a:t>
            </a:r>
          </a:p>
        </p:txBody>
      </p:sp>
      <p:sp>
        <p:nvSpPr>
          <p:cNvPr id="24" name="TextBox 23"/>
          <p:cNvSpPr txBox="1"/>
          <p:nvPr/>
        </p:nvSpPr>
        <p:spPr>
          <a:xfrm>
            <a:off x="7776000" y="1280000"/>
            <a:ext cx="600000" cy="180000"/>
          </a:xfrm>
          <a:prstGeom prst="rect">
            <a:avLst/>
          </a:prstGeom>
          <a:noFill/>
        </p:spPr>
        <p:txBody>
          <a:bodyPr wrap="square">
            <a:spAutoFit/>
          </a:bodyPr>
          <a:lstStyle/>
          <a:p>
            <a:pPr algn="r"/>
            <a:r>
              <a:rPr sz="1000" b="1" i="0">
                <a:solidFill>
                  <a:srgbClr val="16753A"/>
                </a:solidFill>
                <a:latin typeface="Arial"/>
              </a:rPr>
              <a:t>+10.9%</a:t>
            </a:r>
          </a:p>
        </p:txBody>
      </p:sp>
      <p:sp>
        <p:nvSpPr>
          <p:cNvPr id="25" name="Rectangle 24"/>
          <p:cNvSpPr/>
          <p:nvPr/>
        </p:nvSpPr>
        <p:spPr>
          <a:xfrm>
            <a:off x="6276000" y="154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6000" y="1560000"/>
            <a:ext cx="800000" cy="180000"/>
          </a:xfrm>
          <a:prstGeom prst="rect">
            <a:avLst/>
          </a:prstGeom>
          <a:noFill/>
        </p:spPr>
        <p:txBody>
          <a:bodyPr wrap="square">
            <a:spAutoFit/>
          </a:bodyPr>
          <a:lstStyle/>
          <a:p>
            <a:pPr algn="l"/>
            <a:r>
              <a:rPr sz="1000" b="1" i="0">
                <a:solidFill>
                  <a:srgbClr val="1A1A2E"/>
                </a:solidFill>
                <a:latin typeface="Arial"/>
              </a:rPr>
              <a:t>大阪</a:t>
            </a:r>
          </a:p>
        </p:txBody>
      </p:sp>
      <p:sp>
        <p:nvSpPr>
          <p:cNvPr id="27" name="TextBox 26"/>
          <p:cNvSpPr txBox="1"/>
          <p:nvPr/>
        </p:nvSpPr>
        <p:spPr>
          <a:xfrm>
            <a:off x="7056000" y="1560000"/>
            <a:ext cx="700000" cy="180000"/>
          </a:xfrm>
          <a:prstGeom prst="rect">
            <a:avLst/>
          </a:prstGeom>
          <a:noFill/>
        </p:spPr>
        <p:txBody>
          <a:bodyPr wrap="square">
            <a:spAutoFit/>
          </a:bodyPr>
          <a:lstStyle/>
          <a:p>
            <a:pPr algn="r"/>
            <a:r>
              <a:rPr sz="1000" b="0" i="0">
                <a:solidFill>
                  <a:srgbClr val="1A1A2E"/>
                </a:solidFill>
                <a:latin typeface="Arial"/>
              </a:rPr>
              <a:t>920万</a:t>
            </a:r>
          </a:p>
        </p:txBody>
      </p:sp>
      <p:sp>
        <p:nvSpPr>
          <p:cNvPr id="28" name="TextBox 27"/>
          <p:cNvSpPr txBox="1"/>
          <p:nvPr/>
        </p:nvSpPr>
        <p:spPr>
          <a:xfrm>
            <a:off x="7776000" y="1560000"/>
            <a:ext cx="600000" cy="180000"/>
          </a:xfrm>
          <a:prstGeom prst="rect">
            <a:avLst/>
          </a:prstGeom>
          <a:noFill/>
        </p:spPr>
        <p:txBody>
          <a:bodyPr wrap="square">
            <a:spAutoFit/>
          </a:bodyPr>
          <a:lstStyle/>
          <a:p>
            <a:pPr algn="r"/>
            <a:r>
              <a:rPr sz="1000" b="1" i="0">
                <a:solidFill>
                  <a:srgbClr val="16753A"/>
                </a:solidFill>
                <a:latin typeface="Arial"/>
              </a:rPr>
              <a:t>+9.5%</a:t>
            </a:r>
          </a:p>
        </p:txBody>
      </p:sp>
      <p:sp>
        <p:nvSpPr>
          <p:cNvPr id="29" name="Rectangle 28"/>
          <p:cNvSpPr/>
          <p:nvPr/>
        </p:nvSpPr>
        <p:spPr>
          <a:xfrm>
            <a:off x="6276000" y="182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6000" y="1840000"/>
            <a:ext cx="800000" cy="180000"/>
          </a:xfrm>
          <a:prstGeom prst="rect">
            <a:avLst/>
          </a:prstGeom>
          <a:noFill/>
        </p:spPr>
        <p:txBody>
          <a:bodyPr wrap="square">
            <a:spAutoFit/>
          </a:bodyPr>
          <a:lstStyle/>
          <a:p>
            <a:pPr algn="l"/>
            <a:r>
              <a:rPr sz="1000" b="1" i="0">
                <a:solidFill>
                  <a:srgbClr val="1A1A2E"/>
                </a:solidFill>
                <a:latin typeface="Arial"/>
              </a:rPr>
              <a:t>名古屋</a:t>
            </a:r>
          </a:p>
        </p:txBody>
      </p:sp>
      <p:sp>
        <p:nvSpPr>
          <p:cNvPr id="31" name="TextBox 30"/>
          <p:cNvSpPr txBox="1"/>
          <p:nvPr/>
        </p:nvSpPr>
        <p:spPr>
          <a:xfrm>
            <a:off x="7056000" y="1840000"/>
            <a:ext cx="700000" cy="180000"/>
          </a:xfrm>
          <a:prstGeom prst="rect">
            <a:avLst/>
          </a:prstGeom>
          <a:noFill/>
        </p:spPr>
        <p:txBody>
          <a:bodyPr wrap="square">
            <a:spAutoFit/>
          </a:bodyPr>
          <a:lstStyle/>
          <a:p>
            <a:pPr algn="r"/>
            <a:r>
              <a:rPr sz="1000" b="0" i="0">
                <a:solidFill>
                  <a:srgbClr val="1A1A2E"/>
                </a:solidFill>
                <a:latin typeface="Arial"/>
              </a:rPr>
              <a:t>655万</a:t>
            </a:r>
          </a:p>
        </p:txBody>
      </p:sp>
      <p:sp>
        <p:nvSpPr>
          <p:cNvPr id="32" name="TextBox 31"/>
          <p:cNvSpPr txBox="1"/>
          <p:nvPr/>
        </p:nvSpPr>
        <p:spPr>
          <a:xfrm>
            <a:off x="7776000" y="1840000"/>
            <a:ext cx="600000" cy="180000"/>
          </a:xfrm>
          <a:prstGeom prst="rect">
            <a:avLst/>
          </a:prstGeom>
          <a:noFill/>
        </p:spPr>
        <p:txBody>
          <a:bodyPr wrap="square">
            <a:spAutoFit/>
          </a:bodyPr>
          <a:lstStyle/>
          <a:p>
            <a:pPr algn="r"/>
            <a:r>
              <a:rPr sz="1000" b="1" i="0">
                <a:solidFill>
                  <a:srgbClr val="16753A"/>
                </a:solidFill>
                <a:latin typeface="Arial"/>
              </a:rPr>
              <a:t>+11.0%</a:t>
            </a:r>
          </a:p>
        </p:txBody>
      </p:sp>
      <p:sp>
        <p:nvSpPr>
          <p:cNvPr id="33" name="Rectangle 32"/>
          <p:cNvSpPr/>
          <p:nvPr/>
        </p:nvSpPr>
        <p:spPr>
          <a:xfrm>
            <a:off x="6276000" y="210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16000" y="2120000"/>
            <a:ext cx="800000" cy="180000"/>
          </a:xfrm>
          <a:prstGeom prst="rect">
            <a:avLst/>
          </a:prstGeom>
          <a:noFill/>
        </p:spPr>
        <p:txBody>
          <a:bodyPr wrap="square">
            <a:spAutoFit/>
          </a:bodyPr>
          <a:lstStyle/>
          <a:p>
            <a:pPr algn="l"/>
            <a:r>
              <a:rPr sz="1000" b="1" i="0">
                <a:solidFill>
                  <a:srgbClr val="1A1A2E"/>
                </a:solidFill>
                <a:latin typeface="Arial"/>
              </a:rPr>
              <a:t>福岡</a:t>
            </a:r>
          </a:p>
        </p:txBody>
      </p:sp>
      <p:sp>
        <p:nvSpPr>
          <p:cNvPr id="35" name="TextBox 34"/>
          <p:cNvSpPr txBox="1"/>
          <p:nvPr/>
        </p:nvSpPr>
        <p:spPr>
          <a:xfrm>
            <a:off x="7056000" y="2120000"/>
            <a:ext cx="700000" cy="180000"/>
          </a:xfrm>
          <a:prstGeom prst="rect">
            <a:avLst/>
          </a:prstGeom>
          <a:noFill/>
        </p:spPr>
        <p:txBody>
          <a:bodyPr wrap="square">
            <a:spAutoFit/>
          </a:bodyPr>
          <a:lstStyle/>
          <a:p>
            <a:pPr algn="r"/>
            <a:r>
              <a:rPr sz="1000" b="0" i="0">
                <a:solidFill>
                  <a:srgbClr val="1A1A2E"/>
                </a:solidFill>
                <a:latin typeface="Arial"/>
              </a:rPr>
              <a:t>295万</a:t>
            </a:r>
          </a:p>
        </p:txBody>
      </p:sp>
      <p:sp>
        <p:nvSpPr>
          <p:cNvPr id="36" name="TextBox 35"/>
          <p:cNvSpPr txBox="1"/>
          <p:nvPr/>
        </p:nvSpPr>
        <p:spPr>
          <a:xfrm>
            <a:off x="7776000" y="2120000"/>
            <a:ext cx="600000" cy="180000"/>
          </a:xfrm>
          <a:prstGeom prst="rect">
            <a:avLst/>
          </a:prstGeom>
          <a:noFill/>
        </p:spPr>
        <p:txBody>
          <a:bodyPr wrap="square">
            <a:spAutoFit/>
          </a:bodyPr>
          <a:lstStyle/>
          <a:p>
            <a:pPr algn="r"/>
            <a:r>
              <a:rPr sz="1000" b="1" i="0">
                <a:solidFill>
                  <a:srgbClr val="16753A"/>
                </a:solidFill>
                <a:latin typeface="Arial"/>
              </a:rPr>
              <a:t>+18.0%</a:t>
            </a:r>
          </a:p>
        </p:txBody>
      </p:sp>
      <p:sp>
        <p:nvSpPr>
          <p:cNvPr id="37" name="Rectangle 36"/>
          <p:cNvSpPr/>
          <p:nvPr/>
        </p:nvSpPr>
        <p:spPr>
          <a:xfrm>
            <a:off x="6276000" y="238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16000" y="2400000"/>
            <a:ext cx="800000" cy="180000"/>
          </a:xfrm>
          <a:prstGeom prst="rect">
            <a:avLst/>
          </a:prstGeom>
          <a:noFill/>
        </p:spPr>
        <p:txBody>
          <a:bodyPr wrap="square">
            <a:spAutoFit/>
          </a:bodyPr>
          <a:lstStyle/>
          <a:p>
            <a:pPr algn="l"/>
            <a:r>
              <a:rPr sz="1000" b="1" i="0">
                <a:solidFill>
                  <a:srgbClr val="1A1A2E"/>
                </a:solidFill>
                <a:latin typeface="Arial"/>
              </a:rPr>
              <a:t>札幌</a:t>
            </a:r>
          </a:p>
        </p:txBody>
      </p:sp>
      <p:sp>
        <p:nvSpPr>
          <p:cNvPr id="39" name="TextBox 38"/>
          <p:cNvSpPr txBox="1"/>
          <p:nvPr/>
        </p:nvSpPr>
        <p:spPr>
          <a:xfrm>
            <a:off x="7056000" y="2400000"/>
            <a:ext cx="700000" cy="180000"/>
          </a:xfrm>
          <a:prstGeom prst="rect">
            <a:avLst/>
          </a:prstGeom>
          <a:noFill/>
        </p:spPr>
        <p:txBody>
          <a:bodyPr wrap="square">
            <a:spAutoFit/>
          </a:bodyPr>
          <a:lstStyle/>
          <a:p>
            <a:pPr algn="r"/>
            <a:r>
              <a:rPr sz="1000" b="0" i="0">
                <a:solidFill>
                  <a:srgbClr val="1A1A2E"/>
                </a:solidFill>
                <a:latin typeface="Arial"/>
              </a:rPr>
              <a:t>185万</a:t>
            </a:r>
          </a:p>
        </p:txBody>
      </p:sp>
      <p:sp>
        <p:nvSpPr>
          <p:cNvPr id="40" name="TextBox 39"/>
          <p:cNvSpPr txBox="1"/>
          <p:nvPr/>
        </p:nvSpPr>
        <p:spPr>
          <a:xfrm>
            <a:off x="7776000" y="2400000"/>
            <a:ext cx="600000" cy="180000"/>
          </a:xfrm>
          <a:prstGeom prst="rect">
            <a:avLst/>
          </a:prstGeom>
          <a:noFill/>
        </p:spPr>
        <p:txBody>
          <a:bodyPr wrap="square">
            <a:spAutoFit/>
          </a:bodyPr>
          <a:lstStyle/>
          <a:p>
            <a:pPr algn="r"/>
            <a:r>
              <a:rPr sz="1000" b="1" i="0">
                <a:solidFill>
                  <a:srgbClr val="16753A"/>
                </a:solidFill>
                <a:latin typeface="Arial"/>
              </a:rPr>
              <a:t>+15.6%</a:t>
            </a:r>
          </a:p>
        </p:txBody>
      </p:sp>
      <p:sp>
        <p:nvSpPr>
          <p:cNvPr id="41" name="Rectangle 40"/>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社外秘 — 取扱注意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0000" cy="6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000" y="100000"/>
            <a:ext cx="11692000" cy="480000"/>
          </a:xfrm>
          <a:prstGeom prst="rect">
            <a:avLst/>
          </a:prstGeom>
          <a:noFill/>
        </p:spPr>
        <p:txBody>
          <a:bodyPr wrap="square">
            <a:spAutoFit/>
          </a:bodyPr>
          <a:lstStyle/>
          <a:p>
            <a:pPr algn="l"/>
            <a:r>
              <a:rPr sz="1800" b="1" i="0">
                <a:solidFill>
                  <a:srgbClr val="FFFFFF"/>
                </a:solidFill>
                <a:latin typeface="Arial"/>
              </a:rPr>
              <a:t>現状分析：強み・課題と今後の方針</a:t>
            </a:r>
          </a:p>
        </p:txBody>
      </p:sp>
      <p:sp>
        <p:nvSpPr>
          <p:cNvPr id="6" name="Rectangle 5"/>
          <p:cNvSpPr/>
          <p:nvPr/>
        </p:nvSpPr>
        <p:spPr>
          <a:xfrm>
            <a:off x="400000" y="800000"/>
            <a:ext cx="3730666" cy="55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000" y="800000"/>
            <a:ext cx="3730666" cy="400000"/>
          </a:xfrm>
          <a:prstGeom prst="rect">
            <a:avLst/>
          </a:prstGeom>
          <a:solidFill>
            <a:srgbClr val="16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00" y="860000"/>
            <a:ext cx="3630666" cy="300000"/>
          </a:xfrm>
          <a:prstGeom prst="rect">
            <a:avLst/>
          </a:prstGeom>
          <a:noFill/>
        </p:spPr>
        <p:txBody>
          <a:bodyPr wrap="square">
            <a:spAutoFit/>
          </a:bodyPr>
          <a:lstStyle/>
          <a:p>
            <a:pPr algn="l"/>
            <a:r>
              <a:rPr sz="1100" b="1" i="0">
                <a:solidFill>
                  <a:srgbClr val="FFFFFF"/>
                </a:solidFill>
                <a:latin typeface="Arial"/>
              </a:rPr>
              <a:t>◎  競争優位・強み</a:t>
            </a:r>
          </a:p>
        </p:txBody>
      </p:sp>
      <p:sp>
        <p:nvSpPr>
          <p:cNvPr id="9" name="TextBox 8"/>
          <p:cNvSpPr txBox="1"/>
          <p:nvPr/>
        </p:nvSpPr>
        <p:spPr>
          <a:xfrm>
            <a:off x="480000" y="1260000"/>
            <a:ext cx="3570666" cy="5058000"/>
          </a:xfrm>
          <a:prstGeom prst="rect">
            <a:avLst/>
          </a:prstGeom>
          <a:noFill/>
        </p:spPr>
        <p:txBody>
          <a:bodyPr wrap="square">
            <a:spAutoFit/>
          </a:bodyPr>
          <a:lstStyle/>
          <a:p>
            <a:pPr>
              <a:spcBef>
                <a:spcPts val="600"/>
              </a:spcBef>
            </a:pPr>
            <a:r>
              <a:rPr sz="950">
                <a:solidFill>
                  <a:srgbClr val="1A1A2E"/>
                </a:solidFill>
                <a:latin typeface="Arial"/>
              </a:rPr>
              <a:t>• コンサルティング売上が初めて 1,000万円に迫り収益多角化が進展</a:t>
            </a:r>
          </a:p>
          <a:p>
            <a:pPr>
              <a:spcBef>
                <a:spcPts val="600"/>
              </a:spcBef>
            </a:pPr>
            <a:r>
              <a:rPr sz="950">
                <a:solidFill>
                  <a:srgbClr val="1A1A2E"/>
                </a:solidFill>
                <a:latin typeface="Arial"/>
              </a:rPr>
              <a:t>• 福岡・札幌で増員効果が顕在化し地方商談が前Q比 +16% 超を達成</a:t>
            </a:r>
          </a:p>
          <a:p>
            <a:pPr>
              <a:spcBef>
                <a:spcPts val="600"/>
              </a:spcBef>
            </a:pPr>
            <a:r>
              <a:rPr sz="950">
                <a:solidFill>
                  <a:srgbClr val="1A1A2E"/>
                </a:solidFill>
                <a:latin typeface="Arial"/>
              </a:rPr>
              <a:t>• 顧客単価が前年比 +6.2% に向上しアップセル戦略が結果に直結</a:t>
            </a:r>
          </a:p>
          <a:p>
            <a:pPr>
              <a:spcBef>
                <a:spcPts val="600"/>
              </a:spcBef>
            </a:pPr>
            <a:r>
              <a:rPr sz="950">
                <a:solidFill>
                  <a:srgbClr val="1A1A2E"/>
                </a:solidFill>
                <a:latin typeface="Arial"/>
              </a:rPr>
              <a:t>• 解約率が 2.1% と過去最低水準を達成しカスタマーサクセスが機能</a:t>
            </a:r>
          </a:p>
        </p:txBody>
      </p:sp>
      <p:sp>
        <p:nvSpPr>
          <p:cNvPr id="10" name="Rectangle 9"/>
          <p:cNvSpPr/>
          <p:nvPr/>
        </p:nvSpPr>
        <p:spPr>
          <a:xfrm>
            <a:off x="4230666" y="800000"/>
            <a:ext cx="3730666" cy="55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30666" y="800000"/>
            <a:ext cx="3730666" cy="400000"/>
          </a:xfrm>
          <a:prstGeom prst="rect">
            <a:avLst/>
          </a:prstGeom>
          <a:solidFill>
            <a:srgbClr val="CC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0666" y="860000"/>
            <a:ext cx="3630666" cy="300000"/>
          </a:xfrm>
          <a:prstGeom prst="rect">
            <a:avLst/>
          </a:prstGeom>
          <a:noFill/>
        </p:spPr>
        <p:txBody>
          <a:bodyPr wrap="square">
            <a:spAutoFit/>
          </a:bodyPr>
          <a:lstStyle/>
          <a:p>
            <a:pPr algn="l"/>
            <a:r>
              <a:rPr sz="1100" b="1" i="0">
                <a:solidFill>
                  <a:srgbClr val="FFFFFF"/>
                </a:solidFill>
                <a:latin typeface="Arial"/>
              </a:rPr>
              <a:t>▲  課題・競合リスク</a:t>
            </a:r>
          </a:p>
        </p:txBody>
      </p:sp>
      <p:sp>
        <p:nvSpPr>
          <p:cNvPr id="13" name="TextBox 12"/>
          <p:cNvSpPr txBox="1"/>
          <p:nvPr/>
        </p:nvSpPr>
        <p:spPr>
          <a:xfrm>
            <a:off x="4310666" y="1260000"/>
            <a:ext cx="3570666" cy="5058000"/>
          </a:xfrm>
          <a:prstGeom prst="rect">
            <a:avLst/>
          </a:prstGeom>
          <a:noFill/>
        </p:spPr>
        <p:txBody>
          <a:bodyPr wrap="square">
            <a:spAutoFit/>
          </a:bodyPr>
          <a:lstStyle/>
          <a:p>
            <a:pPr>
              <a:spcBef>
                <a:spcPts val="600"/>
              </a:spcBef>
            </a:pPr>
            <a:r>
              <a:rPr sz="950">
                <a:solidFill>
                  <a:srgbClr val="1A1A2E"/>
                </a:solidFill>
                <a:latin typeface="Arial"/>
              </a:rPr>
              <a:t>• 新興クラウド競合 3 社が低価格で市場参入し見積競合案件が増加</a:t>
            </a:r>
          </a:p>
          <a:p>
            <a:pPr>
              <a:spcBef>
                <a:spcPts val="600"/>
              </a:spcBef>
            </a:pPr>
            <a:r>
              <a:rPr sz="950">
                <a:solidFill>
                  <a:srgbClr val="1A1A2E"/>
                </a:solidFill>
                <a:latin typeface="Arial"/>
              </a:rPr>
              <a:t>• スタンダードP の値引き要求が前Q比 +28% 増加し利益率を圧迫</a:t>
            </a:r>
          </a:p>
          <a:p>
            <a:pPr>
              <a:spcBef>
                <a:spcPts val="600"/>
              </a:spcBef>
            </a:pPr>
            <a:r>
              <a:rPr sz="950">
                <a:solidFill>
                  <a:srgbClr val="1A1A2E"/>
                </a:solidFill>
                <a:latin typeface="Arial"/>
              </a:rPr>
              <a:t>• プレミアムP の新機能開発遅延（2 ヶ月）で顧客クレームが 12 件発生</a:t>
            </a:r>
          </a:p>
          <a:p>
            <a:pPr>
              <a:spcBef>
                <a:spcPts val="600"/>
              </a:spcBef>
            </a:pPr>
            <a:r>
              <a:rPr sz="950">
                <a:solidFill>
                  <a:srgbClr val="1A1A2E"/>
                </a:solidFill>
                <a:latin typeface="Arial"/>
              </a:rPr>
              <a:t>• 採用コストが前年比 +40% に増加しオペレーションコストが上昇</a:t>
            </a:r>
          </a:p>
        </p:txBody>
      </p:sp>
      <p:sp>
        <p:nvSpPr>
          <p:cNvPr id="14" name="Rectangle 13"/>
          <p:cNvSpPr/>
          <p:nvPr/>
        </p:nvSpPr>
        <p:spPr>
          <a:xfrm>
            <a:off x="8061332" y="800000"/>
            <a:ext cx="3730666" cy="55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332" y="800000"/>
            <a:ext cx="3730666" cy="400000"/>
          </a:xfrm>
          <a:prstGeom prst="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1332" y="860000"/>
            <a:ext cx="3630666" cy="300000"/>
          </a:xfrm>
          <a:prstGeom prst="rect">
            <a:avLst/>
          </a:prstGeom>
          <a:noFill/>
        </p:spPr>
        <p:txBody>
          <a:bodyPr wrap="square">
            <a:spAutoFit/>
          </a:bodyPr>
          <a:lstStyle/>
          <a:p>
            <a:pPr algn="l"/>
            <a:r>
              <a:rPr sz="1100" b="1" i="0">
                <a:solidFill>
                  <a:srgbClr val="FFFFFF"/>
                </a:solidFill>
                <a:latin typeface="Arial"/>
              </a:rPr>
              <a:t>→  差別化・強化方針</a:t>
            </a:r>
          </a:p>
        </p:txBody>
      </p:sp>
      <p:sp>
        <p:nvSpPr>
          <p:cNvPr id="17" name="TextBox 16"/>
          <p:cNvSpPr txBox="1"/>
          <p:nvPr/>
        </p:nvSpPr>
        <p:spPr>
          <a:xfrm>
            <a:off x="8141332" y="1260000"/>
            <a:ext cx="3570666" cy="5058000"/>
          </a:xfrm>
          <a:prstGeom prst="rect">
            <a:avLst/>
          </a:prstGeom>
          <a:noFill/>
        </p:spPr>
        <p:txBody>
          <a:bodyPr wrap="square">
            <a:spAutoFit/>
          </a:bodyPr>
          <a:lstStyle/>
          <a:p>
            <a:pPr>
              <a:spcBef>
                <a:spcPts val="600"/>
              </a:spcBef>
            </a:pPr>
            <a:r>
              <a:rPr sz="950">
                <a:solidFill>
                  <a:srgbClr val="1A1A2E"/>
                </a:solidFill>
                <a:latin typeface="Arial"/>
              </a:rPr>
              <a:t>• プレミアムPの独自機能強化を Q2 内に完了し競合との差別化を明確化</a:t>
            </a:r>
          </a:p>
          <a:p>
            <a:pPr>
              <a:spcBef>
                <a:spcPts val="600"/>
              </a:spcBef>
            </a:pPr>
            <a:r>
              <a:rPr sz="950">
                <a:solidFill>
                  <a:srgbClr val="1A1A2E"/>
                </a:solidFill>
                <a:latin typeface="Arial"/>
              </a:rPr>
              <a:t>• スタンダードPの値引き上限を設定し価格規律を徹底（ルール策定）</a:t>
            </a:r>
          </a:p>
          <a:p>
            <a:pPr>
              <a:spcBef>
                <a:spcPts val="600"/>
              </a:spcBef>
            </a:pPr>
            <a:r>
              <a:rPr sz="950">
                <a:solidFill>
                  <a:srgbClr val="1A1A2E"/>
                </a:solidFill>
                <a:latin typeface="Arial"/>
              </a:rPr>
              <a:t>• 競合対策として ROI 提案資料を整備し価格勝負から価値訴求へ転換</a:t>
            </a:r>
          </a:p>
          <a:p>
            <a:pPr>
              <a:spcBef>
                <a:spcPts val="600"/>
              </a:spcBef>
            </a:pPr>
            <a:r>
              <a:rPr sz="950">
                <a:solidFill>
                  <a:srgbClr val="1A1A2E"/>
                </a:solidFill>
                <a:latin typeface="Arial"/>
              </a:rPr>
              <a:t>• 採用コスト最適化のため内部紹介制度の報奨金を倍増し採用効率を向上</a:t>
            </a:r>
          </a:p>
        </p:txBody>
      </p:sp>
      <p:sp>
        <p:nvSpPr>
          <p:cNvPr id="18" name="Rectangle 17"/>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社外秘 — 取扱注意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0000" cy="6858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0000" y="3419000"/>
            <a:ext cx="11972000" cy="2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0000" y="900000"/>
            <a:ext cx="11692000" cy="600000"/>
          </a:xfrm>
          <a:prstGeom prst="rect">
            <a:avLst/>
          </a:prstGeom>
          <a:noFill/>
        </p:spPr>
        <p:txBody>
          <a:bodyPr wrap="square">
            <a:spAutoFit/>
          </a:bodyPr>
          <a:lstStyle/>
          <a:p>
            <a:pPr algn="l"/>
            <a:r>
              <a:rPr sz="2800" b="1" i="0">
                <a:solidFill>
                  <a:srgbClr val="C4973E"/>
                </a:solidFill>
                <a:latin typeface="Arial"/>
              </a:rPr>
              <a:t>まとめ</a:t>
            </a:r>
          </a:p>
        </p:txBody>
      </p:sp>
      <p:sp>
        <p:nvSpPr>
          <p:cNvPr id="6" name="TextBox 5"/>
          <p:cNvSpPr txBox="1"/>
          <p:nvPr/>
        </p:nvSpPr>
        <p:spPr>
          <a:xfrm>
            <a:off x="400000" y="1600000"/>
            <a:ext cx="11592000" cy="3600000"/>
          </a:xfrm>
          <a:prstGeom prst="rect">
            <a:avLst/>
          </a:prstGeom>
          <a:noFill/>
        </p:spPr>
        <p:txBody>
          <a:bodyPr wrap="square">
            <a:spAutoFit/>
          </a:bodyPr>
          <a:lstStyle/>
          <a:p>
            <a:pPr>
              <a:spcBef>
                <a:spcPts val="1000"/>
              </a:spcBef>
            </a:pPr>
            <a:r>
              <a:rPr sz="1200" b="1">
                <a:solidFill>
                  <a:srgbClr val="FFFFFF"/>
                </a:solidFill>
                <a:latin typeface="Arial"/>
              </a:rPr>
              <a:t>  ✓  Q1 総売上 3,320万円 (前年同期比 +11.4%) — 3期連続二桁成長</a:t>
            </a:r>
          </a:p>
          <a:p>
            <a:pPr>
              <a:spcBef>
                <a:spcPts val="1000"/>
              </a:spcBef>
            </a:pPr>
            <a:r>
              <a:rPr sz="1200" b="0">
                <a:solidFill>
                  <a:srgbClr val="FFFFFF"/>
                </a:solidFill>
                <a:latin typeface="Arial"/>
              </a:rPr>
              <a:t>  ✓  全エリア・全商品でプラス成長、コンサルが 980万円まで拡大</a:t>
            </a:r>
          </a:p>
          <a:p>
            <a:pPr>
              <a:spcBef>
                <a:spcPts val="1000"/>
              </a:spcBef>
            </a:pPr>
            <a:r>
              <a:rPr sz="1200" b="0">
                <a:solidFill>
                  <a:srgbClr val="FFFFFF"/>
                </a:solidFill>
                <a:latin typeface="Arial"/>
              </a:rPr>
              <a:t>  ✓  競合参入で値引き圧力増大 → Q2 で差別化戦略を本格展開</a:t>
            </a:r>
          </a:p>
          <a:p>
            <a:pPr>
              <a:spcBef>
                <a:spcPts val="1000"/>
              </a:spcBef>
            </a:pPr>
            <a:r>
              <a:rPr sz="1200" b="0">
                <a:solidFill>
                  <a:srgbClr val="FFFFFF"/>
                </a:solidFill>
                <a:latin typeface="Arial"/>
              </a:rPr>
              <a:t>  ✓  解約率 2.1% と過去最低を記録し顧客基盤が着実に強化</a:t>
            </a:r>
          </a:p>
          <a:p>
            <a:pPr>
              <a:spcBef>
                <a:spcPts val="1000"/>
              </a:spcBef>
            </a:pPr>
            <a:r>
              <a:rPr sz="1200" b="0">
                <a:solidFill>
                  <a:srgbClr val="FFFFFF"/>
                </a:solidFill>
                <a:latin typeface="Arial"/>
              </a:rPr>
              <a:t>  ✓  Q2 は機能強化完了と価格規律徹底で収益性の一段向上を目指す</a:t>
            </a:r>
          </a:p>
        </p:txBody>
      </p:sp>
      <p:sp>
        <p:nvSpPr>
          <p:cNvPr id="7" name="TextBox 6"/>
          <p:cNvSpPr txBox="1"/>
          <p:nvPr/>
        </p:nvSpPr>
        <p:spPr>
          <a:xfrm>
            <a:off x="400000" y="5758000"/>
            <a:ext cx="11692000" cy="300000"/>
          </a:xfrm>
          <a:prstGeom prst="rect">
            <a:avLst/>
          </a:prstGeom>
          <a:noFill/>
        </p:spPr>
        <p:txBody>
          <a:bodyPr wrap="square">
            <a:spAutoFit/>
          </a:bodyPr>
          <a:lstStyle/>
          <a:p>
            <a:pPr algn="l"/>
            <a:r>
              <a:rPr sz="1100" b="0" i="0">
                <a:solidFill>
                  <a:srgbClr val="CCD6E8"/>
                </a:solidFill>
                <a:latin typeface="Arial"/>
              </a:rPr>
              <a:t>次回レビュー: 2022年7月（Q2報告）</a:t>
            </a:r>
          </a:p>
        </p:txBody>
      </p:sp>
      <p:sp>
        <p:nvSpPr>
          <p:cNvPr id="8" name="Rectangle 7"/>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Confidential  |  Sales Report 2022年 第1四半期  |  株式会社サンプル商事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