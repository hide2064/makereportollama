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2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2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Arial"/>
              </a:rPr>
              <a:t>株式会社サンプルコーポレーション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900000"/>
            <a:ext cx="114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2022年度  年次売上報告書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9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Arial"/>
              </a:rPr>
              <a:t>対象期間: 2022年1月1日 〜 2022年12月31日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5458000"/>
            <a:ext cx="114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Arial"/>
              </a:rPr>
              <a:t>作成日: 2023年1月15日　　機密区分: 社外秘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750000"/>
            <a:ext cx="1800000" cy="4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エグゼクティブサマリー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2022年度 年次報告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総売上高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312.7M円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+26.4%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総利益額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200.6M円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+26.3%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利益率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64.2%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受注件数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359件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+12.9%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00" y="2920000"/>
            <a:ext cx="11190000" cy="1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00" y="2920000"/>
            <a:ext cx="11190000" cy="7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000" y="3070000"/>
            <a:ext cx="1083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【2022年度 総括】
年間総売上高は312.7M円（前年比+26.4%）、利益率は64.2%を達成。
最大カテゴリは「SaaS」で売上全体の59%を占める。
地域別トップは「東京」、主力商品は「エンタープライズプラン」が牽引。
MVP担当者は「田中 一郎」。
ロシア・ウクライナ情勢に伴うコスト上昇圧力があったものの、価格改定と生産性向上策により利益率を維持。SaaS ARR が初めて200M円を突破。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月次売上・利益推移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2022年度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カテゴリ別売上分析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2022年度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商品別売上ランキング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2022年度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00" y="800000"/>
            <a:ext cx="11672000" cy="41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商品名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000" y="8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売上金額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000" y="8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000" y="8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前年比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0000" y="8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00" y="121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エンタープライズプラン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0000" y="129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59.7M円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42.9M円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0000" y="129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71.9%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0000" y="129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+56.2%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0000" y="129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00" y="162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プレミアムプラン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000" y="170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58.7M円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38.3M円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000" y="170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000" y="170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▲11.4%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0000" y="170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" y="203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スタンダードプラン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0000" y="211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49.0M円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25.4M円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000" y="211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51.8%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0000" y="211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+65.9%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0000" y="211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00" y="244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戦略コンサルティング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0000" y="252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35.5M円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26.5M円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0000" y="252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74.8%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0000" y="252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+74.0%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0000" y="252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00" y="285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プレミアムサポート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0000" y="293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25.2M円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19.8M円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0000" y="293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78.3%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0000" y="293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+65.3%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80000" y="293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381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00" y="326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IT導入支援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0000" y="334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21.0M円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13.1M円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0000" y="334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62.1%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0000" y="334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▲14.7%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0000" y="334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00" y="367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業務改善コンサルティング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80000" y="375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19.0M円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8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13.3M円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0000" y="375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70.1%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0000" y="375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▲4.9%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80000" y="375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00" y="408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ライトプラン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80000" y="416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18.4M円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8.2M円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0000" y="416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44.8%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0000" y="416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+53.3%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80000" y="416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00" y="449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クライアントライセンス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80000" y="457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15.7M円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6.5M円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80000" y="457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41.3%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0000" y="457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+131.9%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80000" y="457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247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00" y="490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スタンダードサポート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0000" y="49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6.2M円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4.5M円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80000" y="49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72.4%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80000" y="49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+18.8%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80000" y="49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地域別・担当者別売上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2022年度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00" y="820000"/>
            <a:ext cx="6036000" cy="8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地域別売上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00" y="1680000"/>
            <a:ext cx="220347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東京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124.5M円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000" y="2240000"/>
            <a:ext cx="858232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名古屋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48.5M円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0000" y="2800000"/>
            <a:ext cx="80165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大阪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45.3M円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000" y="3360000"/>
            <a:ext cx="430984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福岡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24.3M円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0000" y="3920000"/>
            <a:ext cx="38083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那覇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21.5M円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0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0000" y="4480000"/>
            <a:ext cx="319400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札幌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18.0M円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0000" y="5040000"/>
            <a:ext cx="293914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仙台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16.6M円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0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0000" y="5600000"/>
            <a:ext cx="247512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広島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14.0M円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6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820000"/>
            <a:ext cx="6036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担当者別売上 Top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86000" y="1680000"/>
            <a:ext cx="57038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田中 一郎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32.2M円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86000" y="2240000"/>
            <a:ext cx="566439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木村 隼人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32.0M円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6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86000" y="2800000"/>
            <a:ext cx="419013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伊藤 美咲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23.7M円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6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86000" y="3360000"/>
            <a:ext cx="395512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山口 恵子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22.3M円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86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000" y="3920000"/>
            <a:ext cx="38568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山田 彩香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21.8M円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000" y="4480000"/>
            <a:ext cx="34255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林 奈緒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19.3M円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6000" y="5040000"/>
            <a:ext cx="322951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橋本 雄大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18.2M円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86000" y="5600000"/>
            <a:ext cx="308410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渡辺 健二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17.4M円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