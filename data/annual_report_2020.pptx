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2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2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Arial"/>
              </a:rPr>
              <a:t>株式会社サンプルコーポレーション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900000"/>
            <a:ext cx="114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2020年度  年次売上報告書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Arial"/>
              </a:rPr>
              <a:t>対象期間: 2020年1月1日 〜 2020年12月31日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5458000"/>
            <a:ext cx="114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Arial"/>
              </a:rPr>
              <a:t>作成日: 2021年1月15日　　機密区分: 社外秘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750000"/>
            <a:ext cx="1800000" cy="4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2020年度 年次報告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188.5M円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  <a:latin typeface="Arial"/>
              </a:rPr>
              <a:t>前年比 初年度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総利益額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122.4M円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  <a:latin typeface="Arial"/>
              </a:rPr>
              <a:t>前年比 初年度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利益率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64.9%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受注件数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280件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  <a:latin typeface="Arial"/>
              </a:rPr>
              <a:t>前年比 初年度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00" y="2920000"/>
            <a:ext cx="11190000" cy="1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00" y="2920000"/>
            <a:ext cx="11190000" cy="7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000" y="3070000"/>
            <a:ext cx="1083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【2020年度 総括】
年間総売上高は188.5M円（基準年度）、利益率は64.9%を達成。
最大カテゴリは「SaaS」で売上全体の52%を占める。
地域別トップは「東京」、主力商品は「プレミアムプラン」が牽引。
MVP担当者は「中村 さくら」。
コロナ禍による市場収縮の影響を受け、前年比で売上が減少。オンライン・Web チャネルへの移行が加速し、下期より回復基調に転じた。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月次売上・利益推移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2020年度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カテゴリ別売上分析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2020年度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商品別売上ランキング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2020年度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00" y="800000"/>
            <a:ext cx="11672000" cy="41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商品名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00" y="8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売上金額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8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000" y="8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前年比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000" y="8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00" y="121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000" y="129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36.1M円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23.5M円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0000" y="129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65.1%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0000" y="129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000" y="129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00" y="162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戦略コンサルティング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000" y="170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30.8M円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23.1M円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0" y="170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75.0%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000" y="170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0000" y="170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" y="203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エンタープライズプラン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0000" y="211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24.4M円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17.5M円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000" y="211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0000" y="211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0000" y="211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00" y="244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スタンダードプラン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0000" y="252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24.3M円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12.5M円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252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51.5%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0000" y="252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0000" y="252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00" y="285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業務改善コンサルティング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0000" y="293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18.5M円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12.9M円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0000" y="293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69.8%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0000" y="293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0000" y="293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00" y="326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IT導入支援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0000" y="334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14.6M円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9.0M円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0000" y="334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61.9%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0000" y="334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000" y="334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00" y="367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プレミアムサポート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0000" y="375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14.1M円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8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11.0M円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0000" y="375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77.9%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000" y="375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0000" y="375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00" y="408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ライトプラン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0000" y="416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13.8M円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6.1M円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000" y="416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44.3%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0000" y="416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0000" y="416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557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00" y="449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サーバーライセンス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0000" y="457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4.8M円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2.2M円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80000" y="457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0000" y="457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80000" y="457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00" y="490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スタンダードサポート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0000" y="49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3.7M円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2.7M円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80000" y="49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72.7%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80000" y="49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80000" y="49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地域別・担当者別売上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2020年度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00" y="820000"/>
            <a:ext cx="6036000" cy="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地域別売上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1680000"/>
            <a:ext cx="2252787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東京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76.7M円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2240000"/>
            <a:ext cx="1027078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大阪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35.0M円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000" y="2800000"/>
            <a:ext cx="56222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名古屋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19.1M円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000" y="3360000"/>
            <a:ext cx="44552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福岡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15.2M円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000" y="3920000"/>
            <a:ext cx="40046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那覇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13.6M円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0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000" y="4480000"/>
            <a:ext cx="36765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広島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12.5M円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0000" y="5040000"/>
            <a:ext cx="270921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札幌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9.2M円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000" y="5600000"/>
            <a:ext cx="209351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仙台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7.1M円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820000"/>
            <a:ext cx="6036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担当者別売上 Top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6000" y="1680000"/>
            <a:ext cx="540596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中村 さくら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18.4M円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6000" y="2240000"/>
            <a:ext cx="505708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佐藤 花子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17.2M円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6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86000" y="2800000"/>
            <a:ext cx="431218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田中 一郎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14.7M円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6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86000" y="3360000"/>
            <a:ext cx="400141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橋本 雄大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13.6M円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6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000" y="3920000"/>
            <a:ext cx="39313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清水 俊介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13.4M円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000" y="4480000"/>
            <a:ext cx="330923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林 奈緒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11.3M円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6000" y="5040000"/>
            <a:ext cx="326514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山口 恵子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11.1M円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86000" y="5600000"/>
            <a:ext cx="313952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伊藤 美咲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10.7M円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