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2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0000" y="12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Arial"/>
              </a:rPr>
              <a:t>株式会社サンプルコーポレーション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1900000"/>
            <a:ext cx="114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2023年度  年次売上報告書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2900000"/>
            <a:ext cx="114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Arial"/>
              </a:rPr>
              <a:t>対象期間: 2023年1月1日 〜 2023年12月31日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5458000"/>
            <a:ext cx="114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Arial"/>
              </a:rPr>
              <a:t>作成日: 2024年1月15日　　機密区分: 社外秘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750000"/>
            <a:ext cx="1800000" cy="4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エグゼクティブサマリー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2023年度 年次報告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総売上高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387.4M円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+23.9%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総利益額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252.5M円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+25.9%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利益率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65.2%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1000" y="1000000"/>
            <a:ext cx="2700000" cy="1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1000" y="1000000"/>
            <a:ext cx="2700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1000" y="114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A"/>
                </a:solidFill>
                <a:latin typeface="Arial"/>
              </a:rPr>
              <a:t>受注件数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1000" y="1550000"/>
            <a:ext cx="2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1228"/>
                </a:solidFill>
                <a:latin typeface="Arial"/>
              </a:rPr>
              <a:t>379件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1000" y="22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57A55"/>
                </a:solidFill>
                <a:latin typeface="Arial"/>
              </a:rPr>
              <a:t>前年比 +5.6%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1000" y="2920000"/>
            <a:ext cx="11190000" cy="17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1000" y="2920000"/>
            <a:ext cx="11190000" cy="7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000" y="3070000"/>
            <a:ext cx="1083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【2023年度 総括】
年間総売上高は387.4M円（前年比+23.9%）、利益率は65.2%を達成。
最大カテゴリは「SaaS」で売上全体の59%を占める。
地域別トップは「東京」、主力商品は「プレミアムプラン」が牽引。
MVP担当者は「伊藤 美咲」。
AI・DX 投資の高まりを受けてコンサルティング需要が急増。大手企業向けエンタープライズ案件が増加し、客単価が向上。年末商戦も好調。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月次売上・利益推移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2023年度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カテゴリ別売上分析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2023年度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780000"/>
            <a:ext cx="11552000" cy="5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商品別売上ランキング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2023年度 Top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00" y="800000"/>
            <a:ext cx="11672000" cy="41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商品名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0000" y="8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売上金額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00" y="8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0000" y="8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0000" y="8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前年比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0000" y="8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件数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00" y="121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プレミアムプラン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0000" y="129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101.5M円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000" y="129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65.9M円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0000" y="129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0000" y="129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+73.0%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0000" y="129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00" y="162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エンタープライズプラン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0000" y="170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71.5M円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00" y="170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51.6M円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0000" y="170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72.2%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0000" y="170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+19.8%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0000" y="170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" y="203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スタンダードプラン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80000" y="211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39.7M円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0000" y="211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20.7M円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0000" y="211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52.1%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0000" y="211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▲19.1%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0000" y="211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345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00" y="244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プレミアムサポート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0000" y="252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37.5M円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0000" y="252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29.2M円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0000" y="252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77.8%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80000" y="252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+48.6%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80000" y="252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444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00" y="285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IT導入支援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0000" y="293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36.1M円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0000" y="293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22.5M円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80000" y="293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0000" y="293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+71.5%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80000" y="293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106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00" y="326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戦略コンサルティング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80000" y="334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33.2M円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0000" y="334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24.7M円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0000" y="334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74.6%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0000" y="334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▲6.6%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0000" y="334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39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00" y="367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業務改善コンサルティング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80000" y="375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20.1M円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80000" y="375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14.0M円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0000" y="375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69.8%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0000" y="375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+5.7%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80000" y="375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00" y="408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サーバーライセンス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80000" y="416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17.5M円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0000" y="416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7.7M円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80000" y="416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43.8%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80000" y="416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+471.4%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80000" y="416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00" y="4490000"/>
            <a:ext cx="11672000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ライトプラン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80000" y="457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15.2M円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80000" y="457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6.8M円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80000" y="457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44.5%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0000" y="457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2828"/>
                </a:solidFill>
                <a:latin typeface="Arial"/>
              </a:rPr>
              <a:t>▲17.4%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80000" y="457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497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00" y="4900000"/>
            <a:ext cx="11672000" cy="410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1228"/>
                </a:solidFill>
                <a:latin typeface="Arial"/>
              </a:rPr>
              <a:t>スタンダードサポート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80000" y="4980000"/>
            <a:ext cx="23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8.8M円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80000" y="4980000"/>
            <a:ext cx="21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A1228"/>
                </a:solidFill>
                <a:latin typeface="Arial"/>
              </a:rPr>
              <a:t>6.3M円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80000" y="4980000"/>
            <a:ext cx="20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72.3%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80000" y="4980000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57A55"/>
                </a:solidFill>
                <a:latin typeface="Arial"/>
              </a:rPr>
              <a:t>+40.5%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80000" y="4980000"/>
            <a:ext cx="95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228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63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70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000" y="110000"/>
            <a:ext cx="1169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地域別・担当者別売上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2000" y="11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2023年度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548000"/>
            <a:ext cx="11472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00" y="820000"/>
            <a:ext cx="6036000" cy="8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地域別売上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000" y="1680000"/>
            <a:ext cx="1890941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東京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14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132.3M円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0000" y="2240000"/>
            <a:ext cx="1048055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大阪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" y="19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73.3M円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0000" y="2800000"/>
            <a:ext cx="790232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名古屋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00" y="25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55.3M円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0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0000" y="3360000"/>
            <a:ext cx="515402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福岡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" y="310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36.1M円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0000" y="3920000"/>
            <a:ext cx="407274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仙台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000" y="366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28.5M円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0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0000" y="4480000"/>
            <a:ext cx="360662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那覇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0000" y="422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25.2M円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0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0000" y="5040000"/>
            <a:ext cx="320577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札幌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000" y="478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22.4M円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0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0000" y="5600000"/>
            <a:ext cx="202854" cy="160000"/>
          </a:xfrm>
          <a:prstGeom prst="rect">
            <a:avLst/>
          </a:prstGeom>
          <a:solidFill>
            <a:srgbClr val="00A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広島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000" y="5340000"/>
            <a:ext cx="578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14.2M円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6000" y="820000"/>
            <a:ext cx="6036000" cy="5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6000" y="820000"/>
            <a:ext cx="6036000" cy="8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000" y="940000"/>
            <a:ext cx="587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228"/>
                </a:solidFill>
                <a:latin typeface="Arial"/>
              </a:rPr>
              <a:t>担当者別売上 Top 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6000" y="16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86000" y="1680000"/>
            <a:ext cx="477616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伊藤 美咲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000" y="14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33.4M円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6000" y="22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86000" y="2240000"/>
            <a:ext cx="430099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加藤 里奈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000" y="19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30.1M円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6000" y="28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86000" y="2800000"/>
            <a:ext cx="428329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佐藤 花子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000" y="25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30.0M円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6000" y="336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86000" y="3360000"/>
            <a:ext cx="401862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林 奈緒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000" y="310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28.1M円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86000" y="392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000" y="3920000"/>
            <a:ext cx="397963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山田 彩香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000" y="366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27.9M円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000" y="448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86000" y="4480000"/>
            <a:ext cx="373805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池田 美穂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6000" y="422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26.2M円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86000" y="504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6000" y="5040000"/>
            <a:ext cx="329075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石川 沙織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000" y="478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23.0M円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86000" y="5600000"/>
            <a:ext cx="5536000" cy="16000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86000" y="5600000"/>
            <a:ext cx="318329" cy="160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228"/>
                </a:solidFill>
                <a:latin typeface="Arial"/>
              </a:rPr>
              <a:t>田中 一郎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6000" y="5340000"/>
            <a:ext cx="583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A1228"/>
                </a:solidFill>
                <a:latin typeface="Arial"/>
              </a:rPr>
              <a:t>22.3M円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