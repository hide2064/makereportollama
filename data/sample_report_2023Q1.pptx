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0000" y="3419000"/>
            <a:ext cx="11972000" cy="20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0000" y="1200000"/>
            <a:ext cx="1169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  <a:latin typeface="Arial"/>
              </a:rPr>
              <a:t>2023年 第1四半期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00" y="2000000"/>
            <a:ext cx="1169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rial"/>
              </a:rPr>
              <a:t>売上報告書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3200000"/>
            <a:ext cx="116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8"/>
                </a:solidFill>
                <a:latin typeface="Arial"/>
              </a:rPr>
              <a:t>2023年1月〜3月 実績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0000" y="5458000"/>
            <a:ext cx="116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8CC"/>
                </a:solidFill>
                <a:latin typeface="Arial"/>
              </a:rPr>
              <a:t>株式会社サンプル商事　営業企画部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000" y="5858000"/>
            <a:ext cx="116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8CC"/>
                </a:solidFill>
                <a:latin typeface="Arial"/>
              </a:rPr>
              <a:t>作成日: 2023年4月4日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1B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498000"/>
            <a:ext cx="12192000" cy="26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000" y="6548000"/>
            <a:ext cx="11472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8CC"/>
                </a:solidFill>
                <a:latin typeface="Arial"/>
              </a:rPr>
              <a:t>Confidential  |  Sales Report 2023年 第1四半期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0000"/>
          </a:xfrm>
          <a:prstGeom prst="rect">
            <a:avLst/>
          </a:prstGeom>
          <a:solidFill>
            <a:srgbClr val="1B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0000" cy="680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0000" y="100000"/>
            <a:ext cx="11692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売上実績（2023年 第1四半期）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92000" y="100000"/>
            <a:ext cx="21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8"/>
                </a:solidFill>
                <a:latin typeface="Arial"/>
              </a:rPr>
              <a:t>単位: 万円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00" y="780000"/>
            <a:ext cx="2848000" cy="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0000" y="780000"/>
            <a:ext cx="2848000" cy="12000"/>
          </a:xfrm>
          <a:prstGeom prst="rect">
            <a:avLst/>
          </a:prstGeom>
          <a:solidFill>
            <a:srgbClr val="167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00" y="840000"/>
            <a:ext cx="2748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  <a:latin typeface="Arial"/>
              </a:rPr>
              <a:t>総売上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00" y="1060000"/>
            <a:ext cx="2748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Arial"/>
              </a:rPr>
              <a:t>3,580万円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00" y="1340000"/>
            <a:ext cx="274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753A"/>
                </a:solidFill>
                <a:latin typeface="Arial"/>
              </a:rPr>
              <a:t>+7.8%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28000" y="780000"/>
            <a:ext cx="2848000" cy="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28000" y="780000"/>
            <a:ext cx="2848000" cy="12000"/>
          </a:xfrm>
          <a:prstGeom prst="rect">
            <a:avLst/>
          </a:prstGeom>
          <a:solidFill>
            <a:srgbClr val="167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8000" y="840000"/>
            <a:ext cx="2748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  <a:latin typeface="Arial"/>
              </a:rPr>
              <a:t>総販売数量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8000" y="1060000"/>
            <a:ext cx="2748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Arial"/>
              </a:rPr>
              <a:t>1,195 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8000" y="1340000"/>
            <a:ext cx="274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753A"/>
                </a:solidFill>
                <a:latin typeface="Arial"/>
              </a:rPr>
              <a:t>+5.9%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56000" y="780000"/>
            <a:ext cx="2848000" cy="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56000" y="780000"/>
            <a:ext cx="2848000" cy="12000"/>
          </a:xfrm>
          <a:prstGeom prst="rect">
            <a:avLst/>
          </a:prstGeom>
          <a:solidFill>
            <a:srgbClr val="167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000" y="840000"/>
            <a:ext cx="2748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  <a:latin typeface="Arial"/>
              </a:rPr>
              <a:t>平均利益率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000" y="1060000"/>
            <a:ext cx="2748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Arial"/>
              </a:rPr>
              <a:t>52.1%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000" y="1340000"/>
            <a:ext cx="274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753A"/>
                </a:solidFill>
                <a:latin typeface="Arial"/>
              </a:rPr>
              <a:t>+0.6pt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4000" y="780000"/>
            <a:ext cx="2848000" cy="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4000" y="780000"/>
            <a:ext cx="2848000" cy="120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4000" y="840000"/>
            <a:ext cx="2748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A"/>
                </a:solidFill>
                <a:latin typeface="Arial"/>
              </a:rPr>
              <a:t>最高売上商品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4000" y="1060000"/>
            <a:ext cx="2748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Arial"/>
              </a:rPr>
              <a:t>プレミアムP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4000" y="1340000"/>
            <a:ext cx="274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56A0"/>
                </a:solidFill>
                <a:latin typeface="Arial"/>
              </a:rPr>
              <a:t>¥1,420万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0000" y="1620000"/>
            <a:ext cx="320000" cy="440000"/>
          </a:xfrm>
          <a:prstGeom prst="rect">
            <a:avLst/>
          </a:prstGeom>
          <a:solidFill>
            <a:srgbClr val="2C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0000" y="1700000"/>
            <a:ext cx="2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0000" y="1620000"/>
            <a:ext cx="1380000" cy="440000"/>
          </a:xfrm>
          <a:prstGeom prst="rect">
            <a:avLst/>
          </a:prstGeom>
          <a:solidFill>
            <a:srgbClr val="2C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0000" y="1700000"/>
            <a:ext cx="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プレミアムP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00000" y="1620000"/>
            <a:ext cx="1380000" cy="440000"/>
          </a:xfrm>
          <a:prstGeom prst="rect">
            <a:avLst/>
          </a:prstGeom>
          <a:solidFill>
            <a:srgbClr val="2C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30000" y="1700000"/>
            <a:ext cx="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スタンダードP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80000" y="1620000"/>
            <a:ext cx="1700000" cy="440000"/>
          </a:xfrm>
          <a:prstGeom prst="rect">
            <a:avLst/>
          </a:prstGeom>
          <a:solidFill>
            <a:srgbClr val="2C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10000" y="1700000"/>
            <a:ext cx="16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コンサルティング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80000" y="1620000"/>
            <a:ext cx="900000" cy="440000"/>
          </a:xfrm>
          <a:prstGeom prst="rect">
            <a:avLst/>
          </a:prstGeom>
          <a:solidFill>
            <a:srgbClr val="2C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10000" y="1700000"/>
            <a:ext cx="8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保守S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000" y="1620000"/>
            <a:ext cx="1150000" cy="440000"/>
          </a:xfrm>
          <a:prstGeom prst="rect">
            <a:avLst/>
          </a:prstGeom>
          <a:solidFill>
            <a:srgbClr val="2C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10000" y="1700000"/>
            <a:ext cx="111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合計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30000" y="1620000"/>
            <a:ext cx="900000" cy="440000"/>
          </a:xfrm>
          <a:prstGeom prst="rect">
            <a:avLst/>
          </a:prstGeom>
          <a:solidFill>
            <a:srgbClr val="2C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60000" y="1700000"/>
            <a:ext cx="8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利益率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0000" y="2060000"/>
            <a:ext cx="320000" cy="4400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0000" y="2140000"/>
            <a:ext cx="2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1月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0000" y="2060000"/>
            <a:ext cx="1380000" cy="4400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0000" y="2140000"/>
            <a:ext cx="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470万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00000" y="2060000"/>
            <a:ext cx="1380000" cy="4400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30000" y="2140000"/>
            <a:ext cx="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285万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80000" y="2060000"/>
            <a:ext cx="1700000" cy="4400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10000" y="2140000"/>
            <a:ext cx="16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345万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80000" y="2060000"/>
            <a:ext cx="900000" cy="4400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10000" y="2140000"/>
            <a:ext cx="8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81万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80000" y="2060000"/>
            <a:ext cx="1150000" cy="4400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10000" y="2140000"/>
            <a:ext cx="111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1,181万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30000" y="2060000"/>
            <a:ext cx="900000" cy="4400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60000" y="2140000"/>
            <a:ext cx="8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52.4%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00000" y="2500000"/>
            <a:ext cx="320000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0000" y="2580000"/>
            <a:ext cx="2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2月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0000" y="2500000"/>
            <a:ext cx="1380000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0000" y="2580000"/>
            <a:ext cx="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475万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100000" y="2500000"/>
            <a:ext cx="1380000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130000" y="2580000"/>
            <a:ext cx="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290万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480000" y="2500000"/>
            <a:ext cx="1700000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510000" y="2580000"/>
            <a:ext cx="16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355万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180000" y="2500000"/>
            <a:ext cx="900000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210000" y="2580000"/>
            <a:ext cx="8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79万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80000" y="2500000"/>
            <a:ext cx="1150000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10000" y="2580000"/>
            <a:ext cx="111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1,199万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230000" y="2500000"/>
            <a:ext cx="900000" cy="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60000" y="2580000"/>
            <a:ext cx="8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51.9%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00000" y="2940000"/>
            <a:ext cx="320000" cy="4400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30000" y="3020000"/>
            <a:ext cx="2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3月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20000" y="2940000"/>
            <a:ext cx="1380000" cy="4400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50000" y="3020000"/>
            <a:ext cx="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475万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100000" y="2940000"/>
            <a:ext cx="1380000" cy="4400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130000" y="3020000"/>
            <a:ext cx="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285万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480000" y="2940000"/>
            <a:ext cx="1700000" cy="4400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510000" y="3020000"/>
            <a:ext cx="16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360万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180000" y="2940000"/>
            <a:ext cx="900000" cy="4400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210000" y="3020000"/>
            <a:ext cx="8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80万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080000" y="2940000"/>
            <a:ext cx="1150000" cy="4400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110000" y="3020000"/>
            <a:ext cx="111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1,200万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230000" y="2940000"/>
            <a:ext cx="900000" cy="4400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260000" y="3020000"/>
            <a:ext cx="8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51.9%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00000" y="3380000"/>
            <a:ext cx="320000" cy="44000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30000" y="3460000"/>
            <a:ext cx="2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A1A2E"/>
                </a:solidFill>
                <a:latin typeface="Arial"/>
              </a:rPr>
              <a:t>合計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20000" y="3380000"/>
            <a:ext cx="1380000" cy="44000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50000" y="3460000"/>
            <a:ext cx="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A1A2E"/>
                </a:solidFill>
                <a:latin typeface="Arial"/>
              </a:rPr>
              <a:t>1,420万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100000" y="3380000"/>
            <a:ext cx="1380000" cy="44000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130000" y="3460000"/>
            <a:ext cx="13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A1A2E"/>
                </a:solidFill>
                <a:latin typeface="Arial"/>
              </a:rPr>
              <a:t>860万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480000" y="3380000"/>
            <a:ext cx="1700000" cy="44000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510000" y="3460000"/>
            <a:ext cx="16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A1A2E"/>
                </a:solidFill>
                <a:latin typeface="Arial"/>
              </a:rPr>
              <a:t>1,060万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180000" y="3380000"/>
            <a:ext cx="900000" cy="44000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210000" y="3460000"/>
            <a:ext cx="8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A1A2E"/>
                </a:solidFill>
                <a:latin typeface="Arial"/>
              </a:rPr>
              <a:t>240万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080000" y="3380000"/>
            <a:ext cx="1150000" cy="44000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110000" y="3460000"/>
            <a:ext cx="111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6753A"/>
                </a:solidFill>
                <a:latin typeface="Arial"/>
              </a:rPr>
              <a:t>3,580万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230000" y="3380000"/>
            <a:ext cx="900000" cy="44000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260000" y="3460000"/>
            <a:ext cx="8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A1A2E"/>
                </a:solidFill>
                <a:latin typeface="Arial"/>
              </a:rPr>
              <a:t>52.1%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1B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0" y="6498000"/>
            <a:ext cx="12192000" cy="26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60000" y="6548000"/>
            <a:ext cx="11472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8CC"/>
                </a:solidFill>
                <a:latin typeface="Arial"/>
              </a:rPr>
              <a:t>社外秘 — 取扱注意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0000"/>
          </a:xfrm>
          <a:prstGeom prst="rect">
            <a:avLst/>
          </a:prstGeom>
          <a:solidFill>
            <a:srgbClr val="1B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0000" cy="680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0000" y="100000"/>
            <a:ext cx="11692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売上分析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92000" y="100000"/>
            <a:ext cx="2100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8"/>
                </a:solidFill>
                <a:latin typeface="Arial"/>
              </a:rPr>
              <a:t>2023年 第1四半期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00" y="820000"/>
            <a:ext cx="5636000" cy="563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0000" y="820000"/>
            <a:ext cx="5636000" cy="380000"/>
          </a:xfrm>
          <a:prstGeom prst="rect">
            <a:avLst/>
          </a:prstGeom>
          <a:solidFill>
            <a:srgbClr val="2C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0000" y="900000"/>
            <a:ext cx="5636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● 商品別売上構成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0000" y="1240000"/>
            <a:ext cx="3977763" cy="1600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0000" y="1410000"/>
            <a:ext cx="5556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Arial"/>
              </a:rPr>
              <a:t>プレミアムプラン  1,420万 (39.7%)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0000" y="1620000"/>
            <a:ext cx="2965788" cy="160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0000" y="1790000"/>
            <a:ext cx="5556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Arial"/>
              </a:rPr>
              <a:t>コンサルティング  1,060万 (29.6%)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0000" y="2000000"/>
            <a:ext cx="2404693" cy="160000"/>
          </a:xfrm>
          <a:prstGeom prst="rect">
            <a:avLst/>
          </a:prstGeom>
          <a:solidFill>
            <a:srgbClr val="0E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0000" y="2170000"/>
            <a:ext cx="5556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Arial"/>
              </a:rPr>
              <a:t>スタンダードプラン  860万 (24.0%)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0000" y="2380000"/>
            <a:ext cx="671310" cy="160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0000" y="2550000"/>
            <a:ext cx="5556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Arial"/>
              </a:rPr>
              <a:t>保守サポート  240万 (6.7%)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6000" y="820000"/>
            <a:ext cx="5636000" cy="563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56000" y="820000"/>
            <a:ext cx="5636000" cy="380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6000" y="900000"/>
            <a:ext cx="5636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E4C"/>
                </a:solidFill>
                <a:latin typeface="Arial"/>
              </a:rPr>
              <a:t>● 地域別売上 &amp; 前Q比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6000" y="1260000"/>
            <a:ext cx="5436000" cy="20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6000" y="1280000"/>
            <a:ext cx="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Arial"/>
              </a:rPr>
              <a:t>東京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6000" y="1280000"/>
            <a:ext cx="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A1A2E"/>
                </a:solidFill>
                <a:latin typeface="Arial"/>
              </a:rPr>
              <a:t>1,360万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6000" y="1280000"/>
            <a:ext cx="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6753A"/>
                </a:solidFill>
                <a:latin typeface="Arial"/>
              </a:rPr>
              <a:t>+7.5%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76000" y="1540000"/>
            <a:ext cx="5436000" cy="20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16000" y="1560000"/>
            <a:ext cx="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Arial"/>
              </a:rPr>
              <a:t>大阪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6000" y="1560000"/>
            <a:ext cx="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A1A2E"/>
                </a:solidFill>
                <a:latin typeface="Arial"/>
              </a:rPr>
              <a:t>895万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6000" y="1560000"/>
            <a:ext cx="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6753A"/>
                </a:solidFill>
                <a:latin typeface="Arial"/>
              </a:rPr>
              <a:t>+9.2%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76000" y="1820000"/>
            <a:ext cx="5436000" cy="20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16000" y="1840000"/>
            <a:ext cx="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Arial"/>
              </a:rPr>
              <a:t>名古屋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6000" y="1840000"/>
            <a:ext cx="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A1A2E"/>
                </a:solidFill>
                <a:latin typeface="Arial"/>
              </a:rPr>
              <a:t>680万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6000" y="1840000"/>
            <a:ext cx="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6753A"/>
                </a:solidFill>
                <a:latin typeface="Arial"/>
              </a:rPr>
              <a:t>+3.8%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76000" y="2100000"/>
            <a:ext cx="5436000" cy="20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16000" y="2120000"/>
            <a:ext cx="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Arial"/>
              </a:rPr>
              <a:t>福岡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6000" y="2120000"/>
            <a:ext cx="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A1A2E"/>
                </a:solidFill>
                <a:latin typeface="Arial"/>
              </a:rPr>
              <a:t>430万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6000" y="2120000"/>
            <a:ext cx="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6753A"/>
                </a:solidFill>
                <a:latin typeface="Arial"/>
              </a:rPr>
              <a:t>+45.8%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76000" y="2380000"/>
            <a:ext cx="5436000" cy="200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16000" y="2400000"/>
            <a:ext cx="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  <a:latin typeface="Arial"/>
              </a:rPr>
              <a:t>札幌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56000" y="2400000"/>
            <a:ext cx="7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A1A2E"/>
                </a:solidFill>
                <a:latin typeface="Arial"/>
              </a:rPr>
              <a:t>215万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6000" y="2400000"/>
            <a:ext cx="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6753A"/>
                </a:solidFill>
                <a:latin typeface="Arial"/>
              </a:rPr>
              <a:t>+16.2%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1B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6498000"/>
            <a:ext cx="12192000" cy="26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0000" y="6548000"/>
            <a:ext cx="11472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8CC"/>
                </a:solidFill>
                <a:latin typeface="Arial"/>
              </a:rPr>
              <a:t>社外秘 — 取扱注意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0000"/>
          </a:xfrm>
          <a:prstGeom prst="rect">
            <a:avLst/>
          </a:prstGeom>
          <a:solidFill>
            <a:srgbClr val="1B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0000" cy="680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0000" y="100000"/>
            <a:ext cx="11692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現状分析：強み・課題と今後の方針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000" y="800000"/>
            <a:ext cx="3730666" cy="5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0000" y="800000"/>
            <a:ext cx="3730666" cy="400000"/>
          </a:xfrm>
          <a:prstGeom prst="rect">
            <a:avLst/>
          </a:prstGeom>
          <a:solidFill>
            <a:srgbClr val="167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00" y="860000"/>
            <a:ext cx="3630666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◎  成長ドライバー・強み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00" y="1260000"/>
            <a:ext cx="3570666" cy="50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950">
                <a:solidFill>
                  <a:srgbClr val="1A1A2E"/>
                </a:solidFill>
                <a:latin typeface="Arial"/>
              </a:rPr>
              <a:t>• コンサルティングが初の四半期 1,000万円超えを達成し二柱体制が確立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1A1A2E"/>
                </a:solidFill>
                <a:latin typeface="Arial"/>
              </a:rPr>
              <a:t>• 福岡エリアが +45.8% と突出した成長を遂げ地方展開戦略の有効性を実証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1A1A2E"/>
                </a:solidFill>
                <a:latin typeface="Arial"/>
              </a:rPr>
              <a:t>• 全エリアでプラス成長を達成し地域リスク分散が完成段階に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1A1A2E"/>
                </a:solidFill>
                <a:latin typeface="Arial"/>
              </a:rPr>
              <a:t>• プレミアムP の更新率が 94% と過去最高を記録し優良顧客層を確保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30666" y="800000"/>
            <a:ext cx="3730666" cy="5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30666" y="800000"/>
            <a:ext cx="3730666" cy="400000"/>
          </a:xfrm>
          <a:prstGeom prst="rect">
            <a:avLst/>
          </a:prstGeom>
          <a:solidFill>
            <a:srgbClr val="CC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0666" y="860000"/>
            <a:ext cx="3630666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▲  課題・コスト圧力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0666" y="1260000"/>
            <a:ext cx="3570666" cy="50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950">
                <a:solidFill>
                  <a:srgbClr val="1A1A2E"/>
                </a:solidFill>
                <a:latin typeface="Arial"/>
              </a:rPr>
              <a:t>• 人件費・採用コストが前年比 +22% 増加し営業利益を圧迫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1A1A2E"/>
                </a:solidFill>
                <a:latin typeface="Arial"/>
              </a:rPr>
              <a:t>• 保守サポート単価が競合の低価格攻勢で Q1 に ▲8% 低下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1A1A2E"/>
                </a:solidFill>
                <a:latin typeface="Arial"/>
              </a:rPr>
              <a:t>• 急成長中の福岡担当 2 名に業務が集中し属人化リスクが顕在化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1A1A2E"/>
                </a:solidFill>
                <a:latin typeface="Arial"/>
              </a:rPr>
              <a:t>• スタンダードPの競合との機能差が縮小し乗り換え検討顧客が増加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1332" y="800000"/>
            <a:ext cx="3730666" cy="55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61332" y="800000"/>
            <a:ext cx="3730666" cy="4000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1332" y="860000"/>
            <a:ext cx="3630666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→  持続成長に向けた方針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1332" y="1260000"/>
            <a:ext cx="3570666" cy="50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950">
                <a:solidFill>
                  <a:srgbClr val="1A1A2E"/>
                </a:solidFill>
                <a:latin typeface="Arial"/>
              </a:rPr>
              <a:t>• 保守サポートの価格体系を再設計し Q2 に値上げ交渉を順次実施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1A1A2E"/>
                </a:solidFill>
                <a:latin typeface="Arial"/>
              </a:rPr>
              <a:t>• 福岡に 1 名追加採用し属人化リスクを分散（Q2 中に着任予定）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1A1A2E"/>
                </a:solidFill>
                <a:latin typeface="Arial"/>
              </a:rPr>
              <a:t>• スタンダードPの AI 機能追加を Q3 にリリースし差別化を再強化</a:t>
            </a:r>
          </a:p>
          <a:p>
            <a:pPr>
              <a:spcBef>
                <a:spcPts val="600"/>
              </a:spcBef>
            </a:pPr>
            <a:r>
              <a:rPr sz="950">
                <a:solidFill>
                  <a:srgbClr val="1A1A2E"/>
                </a:solidFill>
                <a:latin typeface="Arial"/>
              </a:rPr>
              <a:t>• 全商品でロールアップ型年間契約を推進し Q2 の売上変動を平準化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1B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6498000"/>
            <a:ext cx="12192000" cy="26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000" y="6548000"/>
            <a:ext cx="11472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8CC"/>
                </a:solidFill>
                <a:latin typeface="Arial"/>
              </a:rPr>
              <a:t>社外秘 — 取扱注意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0000" y="3419000"/>
            <a:ext cx="11972000" cy="20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0000" y="900000"/>
            <a:ext cx="116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C4973E"/>
                </a:solidFill>
                <a:latin typeface="Arial"/>
              </a:rPr>
              <a:t>まとめ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000" y="1600000"/>
            <a:ext cx="11592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200" b="1">
                <a:solidFill>
                  <a:srgbClr val="FFFFFF"/>
                </a:solidFill>
                <a:latin typeface="Arial"/>
              </a:rPr>
              <a:t>  ✓  Q1 総売上 3,580万円 (前年同期比 +7.8%) — 4期連続増収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FFFFFF"/>
                </a:solidFill>
                <a:latin typeface="Arial"/>
              </a:rPr>
              <a:t>  ✓  コンサルティング 1,060万円、四半期初の 1,000万円超えを達成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FFFFFF"/>
                </a:solidFill>
                <a:latin typeface="Arial"/>
              </a:rPr>
              <a:t>  ✓  福岡 +45.8% と地方展開戦略が結実、全エリアプラス成長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FFFFFF"/>
                </a:solidFill>
                <a:latin typeface="Arial"/>
              </a:rPr>
              <a:t>  ✓  人件費増・保守S単価下落がコスト圧力として顕在化</a:t>
            </a:r>
          </a:p>
          <a:p>
            <a:pPr>
              <a:spcBef>
                <a:spcPts val="1000"/>
              </a:spcBef>
            </a:pPr>
            <a:r>
              <a:rPr sz="1200" b="0">
                <a:solidFill>
                  <a:srgbClr val="FFFFFF"/>
                </a:solidFill>
                <a:latin typeface="Arial"/>
              </a:rPr>
              <a:t>  ✓  保守S値上げ・AI 機能強化・福岡増員で Q2 以降の収益性向上を図る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0000" y="5758000"/>
            <a:ext cx="1169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8"/>
                </a:solidFill>
                <a:latin typeface="Arial"/>
              </a:rPr>
              <a:t>次回レビュー: 2023年7月（Q2報告）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8000"/>
            <a:ext cx="12192000" cy="360000"/>
          </a:xfrm>
          <a:prstGeom prst="rect">
            <a:avLst/>
          </a:prstGeom>
          <a:solidFill>
            <a:srgbClr val="1B2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98000"/>
            <a:ext cx="12192000" cy="26000"/>
          </a:xfrm>
          <a:prstGeom prst="rect">
            <a:avLst/>
          </a:prstGeom>
          <a:solidFill>
            <a:srgbClr val="C49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000" y="6548000"/>
            <a:ext cx="11472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B8CC"/>
                </a:solidFill>
                <a:latin typeface="Arial"/>
              </a:rPr>
              <a:t>Confidential  |  Sales Report 2023年 第1四半期  |  株式会社サンプル商事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