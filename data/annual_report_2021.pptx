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2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000" y="12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Arial"/>
              </a:rPr>
              <a:t>株式会社サンプルコーポレーション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1900000"/>
            <a:ext cx="114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2021年度  年次売上報告書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29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Arial"/>
              </a:rPr>
              <a:t>対象期間: 2021年1月1日 〜 2021年12月31日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5458000"/>
            <a:ext cx="114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Arial"/>
              </a:rPr>
              <a:t>作成日: 2022年1月15日　　機密区分: 社外秘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750000"/>
            <a:ext cx="1800000" cy="4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エグゼクティブサマリー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2021年度 年次報告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総売上高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247.3M円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+31.2%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総利益額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158.8M円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+29.7%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利益率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64.2%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受注件数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318件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+13.6%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000" y="2920000"/>
            <a:ext cx="11190000" cy="1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1000" y="2920000"/>
            <a:ext cx="11190000" cy="7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000" y="3070000"/>
            <a:ext cx="1083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【2021年度 総括】
年間総売上高は247.3M円（前年比+31.2%）、利益率は64.2%を達成。
最大カテゴリは「SaaS」で売上全体の59%を占める。
地域別トップは「東京」、主力商品は「プレミアムプラン」が牽引。
MVP担当者は「加藤 里奈」。
経済活動再開に伴い売上が回復。SaaS・クラウド需要が急拡大し、エンタープライズプランの新規獲得が特に好調だった。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月次売上・利益推移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2021年度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カテゴリ別売上分析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2021年度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商品別売上ランキング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2021年度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00" y="800000"/>
            <a:ext cx="11672000" cy="41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商品名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0000" y="8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売上金額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0000" y="8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0000" y="8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前年比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0000" y="8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件数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00" y="121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プレミアムプラン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0000" y="129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66.2M円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42.9M円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0000" y="129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64.7%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0000" y="129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+83.6%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0000" y="129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282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00" y="162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エンタープライズプラン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0000" y="170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38.2M円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27.5M円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0000" y="170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71.9%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0000" y="170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+56.4%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0000" y="170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" y="203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スタンダードプラン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0000" y="211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29.5M円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15.4M円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0000" y="211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52.1%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0000" y="211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+21.4%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0000" y="211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349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00" y="244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IT導入支援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0000" y="252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24.7M円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15.2M円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0000" y="252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61.7%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0000" y="252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+69.4%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80000" y="252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85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00" y="285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戦略コンサルティング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0000" y="293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20.4M円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15.4M円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0000" y="293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75.2%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0000" y="293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2828"/>
                </a:solidFill>
                <a:latin typeface="Arial"/>
              </a:rPr>
              <a:t>▲33.7%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80000" y="293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00" y="326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業務改善コンサルティング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80000" y="334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20.0M円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14.0M円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0000" y="334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69.9%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0000" y="334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+8.5%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0000" y="334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00" y="367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プレミアムサポート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80000" y="375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15.3M円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8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11.9M円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80000" y="375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78.1%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0000" y="375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+7.9%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80000" y="375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262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00" y="408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ライトプラン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80000" y="416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12.0M円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5.5M円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80000" y="416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45.4%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80000" y="416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2828"/>
                </a:solidFill>
                <a:latin typeface="Arial"/>
              </a:rPr>
              <a:t>▲12.7%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80000" y="416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458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00" y="449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サーバーライセンス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80000" y="457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7.0M円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8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3.2M円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80000" y="457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46.1%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0000" y="457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+45.9%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80000" y="457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00" y="490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クライアントライセンス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80000" y="49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6.8M円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8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2.8M円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80000" y="49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41.5%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80000" y="49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+318.5%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80000" y="49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地域別・担当者別売上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2021年度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00" y="820000"/>
            <a:ext cx="6036000" cy="8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地域別売上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0000" y="1680000"/>
            <a:ext cx="2178105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東京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97.3M円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0000" y="2240000"/>
            <a:ext cx="904983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名古屋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40.4M円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0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0000" y="2800000"/>
            <a:ext cx="885893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大阪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39.6M円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0000" y="3360000"/>
            <a:ext cx="417682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福岡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18.7M円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0000" y="3920000"/>
            <a:ext cx="315636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那覇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14.1M円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0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0000" y="4480000"/>
            <a:ext cx="308973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札幌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13.8M円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0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0000" y="5040000"/>
            <a:ext cx="265530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広島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11.9M円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0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0000" y="5600000"/>
            <a:ext cx="259195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仙台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11.6M円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56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820000"/>
            <a:ext cx="6036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担当者別売上 Top 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6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86000" y="1680000"/>
            <a:ext cx="616390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加藤 里奈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27.5M円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6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86000" y="2240000"/>
            <a:ext cx="405185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伊藤 美咲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18.1M円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86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86000" y="2800000"/>
            <a:ext cx="383310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吉田 拓海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17.1M円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86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86000" y="3360000"/>
            <a:ext cx="371285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橋本 雄大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16.6M円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86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000" y="3920000"/>
            <a:ext cx="342444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山田 彩香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15.3M円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86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000" y="4480000"/>
            <a:ext cx="342109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鈴木 太郎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15.3M円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86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6000" y="5040000"/>
            <a:ext cx="340475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林 奈緒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15.2M円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86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86000" y="5600000"/>
            <a:ext cx="321148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中村 さくら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14.3M円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