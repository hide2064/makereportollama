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0000" y="3419000"/>
            <a:ext cx="11972000" cy="20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1200000"/>
            <a:ext cx="1169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  <a:latin typeface="Arial"/>
              </a:rPr>
              <a:t>2024年 第1四半期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2000000"/>
            <a:ext cx="1169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売上報告書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3200000"/>
            <a:ext cx="116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  <a:latin typeface="Arial"/>
              </a:rPr>
              <a:t>2024年1月 〜 3月 実績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5458000"/>
            <a:ext cx="116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CC"/>
                </a:solidFill>
                <a:latin typeface="Arial"/>
              </a:rPr>
              <a:t>株式会社サンプル商事　営業企画部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00" y="5858000"/>
            <a:ext cx="116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CC"/>
                </a:solidFill>
                <a:latin typeface="Arial"/>
              </a:rPr>
              <a:t>作成日: 2024年4月5日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6548000"/>
            <a:ext cx="1147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Confidential  |  Sales Report Q1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0000" cy="680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0000" y="100000"/>
            <a:ext cx="11692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売上実績（2024年Q1）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92000" y="100000"/>
            <a:ext cx="21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単位: 万円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780000"/>
            <a:ext cx="2848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0000" y="780000"/>
            <a:ext cx="2848000" cy="12000"/>
          </a:xfrm>
          <a:prstGeom prst="rect">
            <a:avLst/>
          </a:prstGeom>
          <a:solidFill>
            <a:srgbClr val="167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00" y="840000"/>
            <a:ext cx="2748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Arial"/>
              </a:rPr>
              <a:t>総売上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00" y="1060000"/>
            <a:ext cx="2748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Arial"/>
              </a:rPr>
              <a:t>3,847万円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00" y="1340000"/>
            <a:ext cx="27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753A"/>
                </a:solidFill>
                <a:latin typeface="Arial"/>
              </a:rPr>
              <a:t>+12.3%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8000" y="780000"/>
            <a:ext cx="2848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28000" y="780000"/>
            <a:ext cx="2848000" cy="12000"/>
          </a:xfrm>
          <a:prstGeom prst="rect">
            <a:avLst/>
          </a:prstGeom>
          <a:solidFill>
            <a:srgbClr val="167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8000" y="840000"/>
            <a:ext cx="2748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Arial"/>
              </a:rPr>
              <a:t>総販売数量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8000" y="1060000"/>
            <a:ext cx="2748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Arial"/>
              </a:rPr>
              <a:t>1,234 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8000" y="1340000"/>
            <a:ext cx="27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753A"/>
                </a:solidFill>
                <a:latin typeface="Arial"/>
              </a:rPr>
              <a:t>+8.1%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6000" y="780000"/>
            <a:ext cx="2848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6000" y="780000"/>
            <a:ext cx="2848000" cy="12000"/>
          </a:xfrm>
          <a:prstGeom prst="rect">
            <a:avLst/>
          </a:prstGeom>
          <a:solidFill>
            <a:srgbClr val="167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000" y="840000"/>
            <a:ext cx="2748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Arial"/>
              </a:rPr>
              <a:t>平均利益率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1060000"/>
            <a:ext cx="2748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Arial"/>
              </a:rPr>
              <a:t>52.4%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000" y="1340000"/>
            <a:ext cx="27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753A"/>
                </a:solidFill>
                <a:latin typeface="Arial"/>
              </a:rPr>
              <a:t>+1.2pt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4000" y="780000"/>
            <a:ext cx="2848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4000" y="780000"/>
            <a:ext cx="2848000" cy="120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4000" y="840000"/>
            <a:ext cx="2748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Arial"/>
              </a:rPr>
              <a:t>最高売上商品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4000" y="1060000"/>
            <a:ext cx="2748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Arial"/>
              </a:rPr>
              <a:t>プレミアムP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4000" y="1340000"/>
            <a:ext cx="27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A0"/>
                </a:solidFill>
                <a:latin typeface="Arial"/>
              </a:rPr>
              <a:t>¥1,520万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0000" y="1620000"/>
            <a:ext cx="320000" cy="4400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0000" y="1700000"/>
            <a:ext cx="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0000" y="1620000"/>
            <a:ext cx="1380000" cy="4400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0000" y="170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プレミアムP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0000" y="1620000"/>
            <a:ext cx="1380000" cy="4400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30000" y="170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スタンダードP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80000" y="1620000"/>
            <a:ext cx="1700000" cy="4400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10000" y="1700000"/>
            <a:ext cx="16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コンサルティング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80000" y="1620000"/>
            <a:ext cx="900000" cy="4400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0000" y="170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保守S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000" y="1620000"/>
            <a:ext cx="1150000" cy="4400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10000" y="1700000"/>
            <a:ext cx="111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合計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30000" y="1620000"/>
            <a:ext cx="900000" cy="4400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60000" y="170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利益率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0000" y="2060000"/>
            <a:ext cx="320000" cy="44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0000" y="2140000"/>
            <a:ext cx="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1月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0000" y="2060000"/>
            <a:ext cx="1380000" cy="44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0000" y="214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520万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0000" y="2060000"/>
            <a:ext cx="1380000" cy="44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30000" y="214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310万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80000" y="2060000"/>
            <a:ext cx="1700000" cy="44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10000" y="2140000"/>
            <a:ext cx="16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480万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80000" y="2060000"/>
            <a:ext cx="900000" cy="44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10000" y="214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95万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000" y="2060000"/>
            <a:ext cx="1150000" cy="44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10000" y="2140000"/>
            <a:ext cx="111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1,405万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30000" y="2060000"/>
            <a:ext cx="900000" cy="44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0000" y="214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54.2%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0000" y="2500000"/>
            <a:ext cx="32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0000" y="2580000"/>
            <a:ext cx="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2月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0000" y="2500000"/>
            <a:ext cx="138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0000" y="258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480万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100000" y="2500000"/>
            <a:ext cx="138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130000" y="258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290万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80000" y="2500000"/>
            <a:ext cx="170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10000" y="2580000"/>
            <a:ext cx="16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420万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80000" y="2500000"/>
            <a:ext cx="90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210000" y="258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88万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80000" y="2500000"/>
            <a:ext cx="115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10000" y="2580000"/>
            <a:ext cx="111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1,278万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230000" y="2500000"/>
            <a:ext cx="90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60000" y="258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51.8%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00000" y="2940000"/>
            <a:ext cx="320000" cy="44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0000" y="3020000"/>
            <a:ext cx="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3月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0000" y="2940000"/>
            <a:ext cx="1380000" cy="44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50000" y="302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520万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100000" y="2940000"/>
            <a:ext cx="1380000" cy="44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130000" y="302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330万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480000" y="2940000"/>
            <a:ext cx="1700000" cy="44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510000" y="3020000"/>
            <a:ext cx="16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220万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180000" y="2940000"/>
            <a:ext cx="900000" cy="44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210000" y="302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94万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80000" y="2940000"/>
            <a:ext cx="1150000" cy="44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10000" y="3020000"/>
            <a:ext cx="111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1,164万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230000" y="2940000"/>
            <a:ext cx="900000" cy="44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260000" y="302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51.1%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0000" y="3380000"/>
            <a:ext cx="320000" cy="4400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30000" y="3460000"/>
            <a:ext cx="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  <a:latin typeface="Arial"/>
              </a:rPr>
              <a:t>合計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0000" y="3380000"/>
            <a:ext cx="1380000" cy="4400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50000" y="346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  <a:latin typeface="Arial"/>
              </a:rPr>
              <a:t>1,520万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100000" y="3380000"/>
            <a:ext cx="1380000" cy="4400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130000" y="346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  <a:latin typeface="Arial"/>
              </a:rPr>
              <a:t>930万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480000" y="3380000"/>
            <a:ext cx="1700000" cy="4400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510000" y="3460000"/>
            <a:ext cx="16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  <a:latin typeface="Arial"/>
              </a:rPr>
              <a:t>1,120万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180000" y="3380000"/>
            <a:ext cx="900000" cy="4400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210000" y="346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  <a:latin typeface="Arial"/>
              </a:rPr>
              <a:t>277万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080000" y="3380000"/>
            <a:ext cx="1150000" cy="4400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10000" y="3460000"/>
            <a:ext cx="111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6753A"/>
                </a:solidFill>
                <a:latin typeface="Arial"/>
              </a:rPr>
              <a:t>3,847万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230000" y="3380000"/>
            <a:ext cx="900000" cy="4400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260000" y="346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  <a:latin typeface="Arial"/>
              </a:rPr>
              <a:t>52.4%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60000" y="6548000"/>
            <a:ext cx="1147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0000" cy="680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0000" y="100000"/>
            <a:ext cx="11692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売上分析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92000" y="100000"/>
            <a:ext cx="21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2024年Q1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820000"/>
            <a:ext cx="5636000" cy="563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0000" y="820000"/>
            <a:ext cx="5636000" cy="3800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0000" y="900000"/>
            <a:ext cx="5636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● 商品別売上構成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0000" y="1240000"/>
            <a:ext cx="4730717" cy="1600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0000" y="1410000"/>
            <a:ext cx="555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Arial"/>
              </a:rPr>
              <a:t>プレミアムプラン  1,520万 (39.5%)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0000" y="1620000"/>
            <a:ext cx="3485161" cy="16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0000" y="1790000"/>
            <a:ext cx="555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Arial"/>
              </a:rPr>
              <a:t>コンサルティング  1,120万 (29.1%)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0000" y="2000000"/>
            <a:ext cx="2898313" cy="160000"/>
          </a:xfrm>
          <a:prstGeom prst="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000" y="2170000"/>
            <a:ext cx="555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Arial"/>
              </a:rPr>
              <a:t>スタンダードプラン  930万 (24.2%)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0000" y="2380000"/>
            <a:ext cx="862308" cy="160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000" y="2550000"/>
            <a:ext cx="555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Arial"/>
              </a:rPr>
              <a:t>保守サポート  277万 (7.2%)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6000" y="820000"/>
            <a:ext cx="5636000" cy="563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6000" y="820000"/>
            <a:ext cx="5636000" cy="380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6000" y="900000"/>
            <a:ext cx="5636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E4C"/>
                </a:solidFill>
                <a:latin typeface="Arial"/>
              </a:rPr>
              <a:t>● 地域別売上 &amp; 前Q比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6000" y="1260000"/>
            <a:ext cx="5436000" cy="20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6000" y="1280000"/>
            <a:ext cx="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Arial"/>
              </a:rPr>
              <a:t>東京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6000" y="1280000"/>
            <a:ext cx="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1A2E"/>
                </a:solidFill>
                <a:latin typeface="Arial"/>
              </a:rPr>
              <a:t>1,460万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6000" y="1280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6753A"/>
                </a:solidFill>
                <a:latin typeface="Arial"/>
              </a:rPr>
              <a:t>+15.2%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6000" y="1540000"/>
            <a:ext cx="5436000" cy="20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16000" y="1560000"/>
            <a:ext cx="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Arial"/>
              </a:rPr>
              <a:t>大阪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6000" y="1560000"/>
            <a:ext cx="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1A2E"/>
                </a:solidFill>
                <a:latin typeface="Arial"/>
              </a:rPr>
              <a:t>962万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6000" y="1560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6753A"/>
                </a:solidFill>
                <a:latin typeface="Arial"/>
              </a:rPr>
              <a:t>+8.7%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76000" y="1820000"/>
            <a:ext cx="5436000" cy="20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16000" y="1840000"/>
            <a:ext cx="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Arial"/>
              </a:rPr>
              <a:t>名古屋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6000" y="1840000"/>
            <a:ext cx="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1A2E"/>
                </a:solidFill>
                <a:latin typeface="Arial"/>
              </a:rPr>
              <a:t>693万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6000" y="1840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6753A"/>
                </a:solidFill>
                <a:latin typeface="Arial"/>
              </a:rPr>
              <a:t>+5.1%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76000" y="2100000"/>
            <a:ext cx="5436000" cy="20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16000" y="2120000"/>
            <a:ext cx="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Arial"/>
              </a:rPr>
              <a:t>福岡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6000" y="2120000"/>
            <a:ext cx="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1A2E"/>
                </a:solidFill>
                <a:latin typeface="Arial"/>
              </a:rPr>
              <a:t>462万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6000" y="2120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6753A"/>
                </a:solidFill>
                <a:latin typeface="Arial"/>
              </a:rPr>
              <a:t>+2.3%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76000" y="2380000"/>
            <a:ext cx="5436000" cy="20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16000" y="2400000"/>
            <a:ext cx="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Arial"/>
              </a:rPr>
              <a:t>札幌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6000" y="2400000"/>
            <a:ext cx="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1A2E"/>
                </a:solidFill>
                <a:latin typeface="Arial"/>
              </a:rPr>
              <a:t>270万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6000" y="2400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CC2828"/>
                </a:solidFill>
                <a:latin typeface="Arial"/>
              </a:rPr>
              <a:t>-3.1%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0000" y="6548000"/>
            <a:ext cx="1147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0000" cy="680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0000" y="100000"/>
            <a:ext cx="11692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現状分析：強み・課題と今後の方針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800000"/>
            <a:ext cx="3730666" cy="5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0000" y="800000"/>
            <a:ext cx="3730666" cy="400000"/>
          </a:xfrm>
          <a:prstGeom prst="rect">
            <a:avLst/>
          </a:prstGeom>
          <a:solidFill>
            <a:srgbClr val="167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00" y="860000"/>
            <a:ext cx="3630666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◎  強み・メリット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00" y="1260000"/>
            <a:ext cx="3570666" cy="50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プレミアムP が全体の 40% を占め高収益を牽引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コンサルTINGの利益率が 65% と最高水準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東京・大阪の主要 2 拠点が安定した売上基盤を形成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前四半期比 +12.3% と 3 期連続の増収を達成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0666" y="800000"/>
            <a:ext cx="3730666" cy="5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30666" y="800000"/>
            <a:ext cx="3730666" cy="400000"/>
          </a:xfrm>
          <a:prstGeom prst="rect">
            <a:avLst/>
          </a:prstGeom>
          <a:solidFill>
            <a:srgbClr val="C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0666" y="860000"/>
            <a:ext cx="3630666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▲  課題・デメリット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0666" y="1260000"/>
            <a:ext cx="3570666" cy="50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札幌エリアが唯一マイナス成長 (▲3.1%)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スタンダードPの利益率が 41% と全商品中最低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コンサルティング単価の季節波動が大きく収益が不安定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担当者 3 名が売上の 55% を占め属人化リスクあり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1332" y="800000"/>
            <a:ext cx="3730666" cy="5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1332" y="800000"/>
            <a:ext cx="3730666" cy="4000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1332" y="860000"/>
            <a:ext cx="3630666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→  今後の方針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1332" y="1260000"/>
            <a:ext cx="3570666" cy="50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札幌に地域専任担当を配置し Q2 に 10% 回復を目標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スタンダードPの原価見直し / バンドル化で利益率 5pt 改善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コンサルティングの年間契約化を推進し収益を平準化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ナレッジ共有強化と後継担当者育成で属人化リスクを低減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000" y="6548000"/>
            <a:ext cx="1147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0000" y="3419000"/>
            <a:ext cx="11972000" cy="20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900000"/>
            <a:ext cx="116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4973E"/>
                </a:solidFill>
                <a:latin typeface="Arial"/>
              </a:rPr>
              <a:t>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1600000"/>
            <a:ext cx="11592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  ✓  Q1 総売上 3,847万円 (前Q比 +12.3%) — 3期連続増収を達成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  ✓  プレミアムP・コンサルティングの高付加価値商材が収益を牽引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  ✓  札幌エリアのみ減少 → Q2 に専任担当配置で早期回復を目指す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  ✓  スタンダードP のコスト構造改善・バンドル化で利益率向上へ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  ✓  年間契約化・属人化解消を通じて持続可能な収益基盤を構築する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5758000"/>
            <a:ext cx="1169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Arial"/>
              </a:rPr>
              <a:t>次回レビュー: 2024年7月（Q2報告）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6548000"/>
            <a:ext cx="1147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Confidential  |  Sales Report Q1 2024  |  株式会社サンプル商事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