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200000"/>
            <a:ext cx="116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2021年 第1四半期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000000"/>
            <a:ext cx="116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売上報告書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2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2021年1月〜3月 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54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CC"/>
                </a:solidFill>
                <a:latin typeface="Arial"/>
              </a:rPr>
              <a:t>株式会社サンプル商事　営業企画部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58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CC"/>
                </a:solidFill>
                <a:latin typeface="Arial"/>
              </a:rPr>
              <a:t>作成日: 2021年4月6日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2021年 第1四半期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売上実績（2021年 第1四半期）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単位: 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総売上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2,980万円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+12.9%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8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総販売数量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1,012 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8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+12.8%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6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6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平均利益率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50.8%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+1.6pt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4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4000" y="780000"/>
            <a:ext cx="2848000" cy="12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4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最高売上商品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4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プレミアムP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4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A0"/>
                </a:solidFill>
                <a:latin typeface="Arial"/>
              </a:rPr>
              <a:t>¥1,180万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000" y="1620000"/>
            <a:ext cx="32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000" y="170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プレミアムP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スタンダードP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0000" y="1620000"/>
            <a:ext cx="17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0000" y="170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コンサルティング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保守S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000" y="1620000"/>
            <a:ext cx="115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0000" y="170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合計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3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0000" y="2060000"/>
            <a:ext cx="32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000" y="214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206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400万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0000" y="206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255万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0000" y="2060000"/>
            <a:ext cx="17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0000" y="214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270万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0000" y="206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75万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000" y="2060000"/>
            <a:ext cx="115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0000" y="214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1,000万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30000" y="206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51.2%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000" y="2500000"/>
            <a:ext cx="32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000" y="258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380万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245万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80000" y="2500000"/>
            <a:ext cx="17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10000" y="258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280万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77万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000" y="2500000"/>
            <a:ext cx="115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0000" y="258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982万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3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50.5%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0000" y="2940000"/>
            <a:ext cx="32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0000" y="302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000" y="294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400万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0000" y="294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250万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80000" y="2940000"/>
            <a:ext cx="17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10000" y="302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270万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80000" y="294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1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78万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000" y="2940000"/>
            <a:ext cx="115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10000" y="302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998万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30000" y="294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6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50.7%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0000" y="3380000"/>
            <a:ext cx="32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0000" y="346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合計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1,180万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0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3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750万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80000" y="3380000"/>
            <a:ext cx="17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10000" y="346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820万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1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230万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000" y="3380000"/>
            <a:ext cx="115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10000" y="346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753A"/>
                </a:solidFill>
                <a:latin typeface="Arial"/>
              </a:rPr>
              <a:t>2,980万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3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6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50.8%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 第1四半期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820000"/>
            <a:ext cx="5636000" cy="38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● 商品別売上構成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000" y="1240000"/>
            <a:ext cx="3967744" cy="16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41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プレミアムプラン  1,180万 (39.6%)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000" y="1620000"/>
            <a:ext cx="2755377" cy="16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179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コンサルティング  820万 (27.5%)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000" y="2000000"/>
            <a:ext cx="2524928" cy="16000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" y="217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スタンダードプラン  750万 (25.2%)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000" y="2380000"/>
            <a:ext cx="771505" cy="16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255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保守サポート  230万 (7.7%)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6000" y="820000"/>
            <a:ext cx="5636000" cy="3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6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E4C"/>
                </a:solidFill>
                <a:latin typeface="Arial"/>
              </a:rPr>
              <a:t>● 地域別売上 &amp; 前Q比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6000" y="126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000" y="128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東京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128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1,140万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6000" y="128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+12.9%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6000" y="154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6000" y="156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大阪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000" y="156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840万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00" y="156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+12.0%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6000" y="182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6000" y="184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名古屋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6000" y="184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590万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6000" y="184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+11.3%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6000" y="210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6000" y="212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福岡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6000" y="212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250万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6000" y="212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+13.6%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6000" y="238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6000" y="240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札幌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6000" y="240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160万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6000" y="240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+23.1%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現状分析：強み・課題と今後の方針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00" y="800000"/>
            <a:ext cx="3730666" cy="400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◎  強み・成長要因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オンライン商談への移行が完了し全エリアでプラス成長を達成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コンサルティングが前年同期比 +32.3% と力強く回復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保守サポートの自動更新率が 91% に達し安定収益の柱に成長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ウェビナー施策で四半期に 128 件の新規リードを獲得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666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0666" y="800000"/>
            <a:ext cx="3730666" cy="400000"/>
          </a:xfrm>
          <a:prstGeom prst="rect">
            <a:avLst/>
          </a:prstGeom>
          <a:solidFill>
            <a:srgbClr val="C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0666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▲  課題・残留リスク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666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地方拠点（福岡・札幌）の担当者不足により商談キャパが不足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オンライン完結型コンサルの単価が対面比 ▲15% と課題が残る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スタンダードPの新機能投資が先行し利益率が 43% に低下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リード獲得数は回復したが有効商談率が 38% と前年の 45% を下回る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332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332" y="800000"/>
            <a:ext cx="3730666" cy="40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1332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→  Q2 に向けた方針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1332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Q2 に福岡・札幌各 1 名を増員し地方商談キャパを強化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対面・ハイブリッド商談の再開でコンサル単価の回復を目指す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スタンダードPの機能強化投資を Q2 で完了し利益率を 48% 以上に回復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SDR（インサイドセールス）チーム設置でリード有効化率 45% 以上を目標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9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973E"/>
                </a:solidFill>
                <a:latin typeface="Arial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600000"/>
            <a:ext cx="11592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  ✓  Q1 総売上 2,980万円 (前年同期比 +12.9%) — コロナ禍からV字回復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全エリア・全商品でプラス成長、オンライン化が奏功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コンサルティングが +32.3% で回復の牽引役に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地方拠点の人員不足が次四半期の成長制約リスク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Q2 増員・SDR 設置・ハイブリッド商談再開で更なる拡大を図る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5758000"/>
            <a:ext cx="1169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Arial"/>
              </a:rPr>
              <a:t>次回レビュー: 2021年7月（Q2報告）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2021年 第1四半期  |  株式会社サンプル商事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