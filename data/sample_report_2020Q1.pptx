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0000" cy="6858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0000" y="3419000"/>
            <a:ext cx="11972000" cy="20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0000" y="1200000"/>
            <a:ext cx="11692000" cy="1000000"/>
          </a:xfrm>
          <a:prstGeom prst="rect">
            <a:avLst/>
          </a:prstGeom>
          <a:noFill/>
        </p:spPr>
        <p:txBody>
          <a:bodyPr wrap="square">
            <a:spAutoFit/>
          </a:bodyPr>
          <a:lstStyle/>
          <a:p>
            <a:pPr algn="l"/>
            <a:r>
              <a:rPr sz="1600" b="0" i="0">
                <a:solidFill>
                  <a:srgbClr val="CCD6E8"/>
                </a:solidFill>
                <a:latin typeface="Arial"/>
              </a:rPr>
              <a:t>2020年 第1四半期</a:t>
            </a:r>
          </a:p>
        </p:txBody>
      </p:sp>
      <p:sp>
        <p:nvSpPr>
          <p:cNvPr id="6" name="TextBox 5"/>
          <p:cNvSpPr txBox="1"/>
          <p:nvPr/>
        </p:nvSpPr>
        <p:spPr>
          <a:xfrm>
            <a:off x="400000" y="2000000"/>
            <a:ext cx="11692000" cy="1200000"/>
          </a:xfrm>
          <a:prstGeom prst="rect">
            <a:avLst/>
          </a:prstGeom>
          <a:noFill/>
        </p:spPr>
        <p:txBody>
          <a:bodyPr wrap="square">
            <a:spAutoFit/>
          </a:bodyPr>
          <a:lstStyle/>
          <a:p>
            <a:pPr algn="l"/>
            <a:r>
              <a:rPr sz="4200" b="1" i="0">
                <a:solidFill>
                  <a:srgbClr val="FFFFFF"/>
                </a:solidFill>
                <a:latin typeface="Arial"/>
              </a:rPr>
              <a:t>売上報告書</a:t>
            </a:r>
          </a:p>
        </p:txBody>
      </p:sp>
      <p:sp>
        <p:nvSpPr>
          <p:cNvPr id="7" name="TextBox 6"/>
          <p:cNvSpPr txBox="1"/>
          <p:nvPr/>
        </p:nvSpPr>
        <p:spPr>
          <a:xfrm>
            <a:off x="400000" y="3200000"/>
            <a:ext cx="11692000" cy="600000"/>
          </a:xfrm>
          <a:prstGeom prst="rect">
            <a:avLst/>
          </a:prstGeom>
          <a:noFill/>
        </p:spPr>
        <p:txBody>
          <a:bodyPr wrap="square">
            <a:spAutoFit/>
          </a:bodyPr>
          <a:lstStyle/>
          <a:p>
            <a:pPr algn="l"/>
            <a:r>
              <a:rPr sz="1600" b="0" i="0">
                <a:solidFill>
                  <a:srgbClr val="CCD6E8"/>
                </a:solidFill>
                <a:latin typeface="Arial"/>
              </a:rPr>
              <a:t>2020年1月〜3月 実績</a:t>
            </a:r>
          </a:p>
        </p:txBody>
      </p:sp>
      <p:sp>
        <p:nvSpPr>
          <p:cNvPr id="8" name="TextBox 7"/>
          <p:cNvSpPr txBox="1"/>
          <p:nvPr/>
        </p:nvSpPr>
        <p:spPr>
          <a:xfrm>
            <a:off x="400000" y="5458000"/>
            <a:ext cx="11692000" cy="400000"/>
          </a:xfrm>
          <a:prstGeom prst="rect">
            <a:avLst/>
          </a:prstGeom>
          <a:noFill/>
        </p:spPr>
        <p:txBody>
          <a:bodyPr wrap="square">
            <a:spAutoFit/>
          </a:bodyPr>
          <a:lstStyle/>
          <a:p>
            <a:pPr algn="l"/>
            <a:r>
              <a:rPr sz="1100" b="0" i="0">
                <a:solidFill>
                  <a:srgbClr val="AAB8CC"/>
                </a:solidFill>
                <a:latin typeface="Arial"/>
              </a:rPr>
              <a:t>株式会社サンプル商事　営業企画部</a:t>
            </a:r>
          </a:p>
        </p:txBody>
      </p:sp>
      <p:sp>
        <p:nvSpPr>
          <p:cNvPr id="9" name="TextBox 8"/>
          <p:cNvSpPr txBox="1"/>
          <p:nvPr/>
        </p:nvSpPr>
        <p:spPr>
          <a:xfrm>
            <a:off x="400000" y="5858000"/>
            <a:ext cx="11692000" cy="400000"/>
          </a:xfrm>
          <a:prstGeom prst="rect">
            <a:avLst/>
          </a:prstGeom>
          <a:noFill/>
        </p:spPr>
        <p:txBody>
          <a:bodyPr wrap="square">
            <a:spAutoFit/>
          </a:bodyPr>
          <a:lstStyle/>
          <a:p>
            <a:pPr algn="l"/>
            <a:r>
              <a:rPr sz="1000" b="0" i="0">
                <a:solidFill>
                  <a:srgbClr val="AAB8CC"/>
                </a:solidFill>
                <a:latin typeface="Arial"/>
              </a:rPr>
              <a:t>作成日: 2020年4月7日</a:t>
            </a:r>
          </a:p>
        </p:txBody>
      </p:sp>
      <p:sp>
        <p:nvSpPr>
          <p:cNvPr id="10" name="Rectangle 9"/>
          <p:cNvSpPr/>
          <p:nvPr/>
        </p:nvSpPr>
        <p:spPr>
          <a:xfrm>
            <a:off x="0" y="6498000"/>
            <a:ext cx="12192000" cy="360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498000"/>
            <a:ext cx="12192000" cy="26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0000" y="6548000"/>
            <a:ext cx="11472000" cy="280000"/>
          </a:xfrm>
          <a:prstGeom prst="rect">
            <a:avLst/>
          </a:prstGeom>
          <a:noFill/>
        </p:spPr>
        <p:txBody>
          <a:bodyPr wrap="square">
            <a:spAutoFit/>
          </a:bodyPr>
          <a:lstStyle/>
          <a:p>
            <a:pPr algn="l"/>
            <a:r>
              <a:rPr sz="800" b="0" i="0">
                <a:solidFill>
                  <a:srgbClr val="AAB8CC"/>
                </a:solidFill>
                <a:latin typeface="Arial"/>
              </a:rPr>
              <a:t>Confidential  |  Sales Report 2020年 第1四半期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0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0000" cy="680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000" y="100000"/>
            <a:ext cx="11692000" cy="480000"/>
          </a:xfrm>
          <a:prstGeom prst="rect">
            <a:avLst/>
          </a:prstGeom>
          <a:noFill/>
        </p:spPr>
        <p:txBody>
          <a:bodyPr wrap="square">
            <a:spAutoFit/>
          </a:bodyPr>
          <a:lstStyle/>
          <a:p>
            <a:pPr algn="l"/>
            <a:r>
              <a:rPr sz="1800" b="1" i="0">
                <a:solidFill>
                  <a:srgbClr val="FFFFFF"/>
                </a:solidFill>
                <a:latin typeface="Arial"/>
              </a:rPr>
              <a:t>売上実績（2020年 第1四半期）</a:t>
            </a:r>
          </a:p>
        </p:txBody>
      </p:sp>
      <p:sp>
        <p:nvSpPr>
          <p:cNvPr id="6" name="TextBox 5"/>
          <p:cNvSpPr txBox="1"/>
          <p:nvPr/>
        </p:nvSpPr>
        <p:spPr>
          <a:xfrm>
            <a:off x="9992000" y="100000"/>
            <a:ext cx="2100000" cy="480000"/>
          </a:xfrm>
          <a:prstGeom prst="rect">
            <a:avLst/>
          </a:prstGeom>
          <a:noFill/>
        </p:spPr>
        <p:txBody>
          <a:bodyPr wrap="square">
            <a:spAutoFit/>
          </a:bodyPr>
          <a:lstStyle/>
          <a:p>
            <a:pPr algn="r"/>
            <a:r>
              <a:rPr sz="900" b="0" i="0">
                <a:solidFill>
                  <a:srgbClr val="CCD6E8"/>
                </a:solidFill>
                <a:latin typeface="Arial"/>
              </a:rPr>
              <a:t>単位: 万円</a:t>
            </a:r>
          </a:p>
        </p:txBody>
      </p:sp>
      <p:sp>
        <p:nvSpPr>
          <p:cNvPr id="7" name="Rectangle 6"/>
          <p:cNvSpPr/>
          <p:nvPr/>
        </p:nvSpPr>
        <p:spPr>
          <a:xfrm>
            <a:off x="400000" y="780000"/>
            <a:ext cx="2848000" cy="7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0000" y="780000"/>
            <a:ext cx="2848000" cy="12000"/>
          </a:xfrm>
          <a:prstGeom prst="rect">
            <a:avLst/>
          </a:prstGeom>
          <a:solidFill>
            <a:srgbClr val="CC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0000" y="840000"/>
            <a:ext cx="2748000" cy="260000"/>
          </a:xfrm>
          <a:prstGeom prst="rect">
            <a:avLst/>
          </a:prstGeom>
          <a:noFill/>
        </p:spPr>
        <p:txBody>
          <a:bodyPr wrap="square">
            <a:spAutoFit/>
          </a:bodyPr>
          <a:lstStyle/>
          <a:p>
            <a:pPr algn="l"/>
            <a:r>
              <a:rPr sz="900" b="0" i="0">
                <a:solidFill>
                  <a:srgbClr val="55657A"/>
                </a:solidFill>
                <a:latin typeface="Arial"/>
              </a:rPr>
              <a:t>総売上</a:t>
            </a:r>
          </a:p>
        </p:txBody>
      </p:sp>
      <p:sp>
        <p:nvSpPr>
          <p:cNvPr id="10" name="TextBox 9"/>
          <p:cNvSpPr txBox="1"/>
          <p:nvPr/>
        </p:nvSpPr>
        <p:spPr>
          <a:xfrm>
            <a:off x="480000" y="1060000"/>
            <a:ext cx="2748000" cy="320000"/>
          </a:xfrm>
          <a:prstGeom prst="rect">
            <a:avLst/>
          </a:prstGeom>
          <a:noFill/>
        </p:spPr>
        <p:txBody>
          <a:bodyPr wrap="square">
            <a:spAutoFit/>
          </a:bodyPr>
          <a:lstStyle/>
          <a:p>
            <a:pPr algn="l"/>
            <a:r>
              <a:rPr sz="1500" b="1" i="0">
                <a:solidFill>
                  <a:srgbClr val="1A1A2E"/>
                </a:solidFill>
                <a:latin typeface="Arial"/>
              </a:rPr>
              <a:t>2,640万円</a:t>
            </a:r>
          </a:p>
        </p:txBody>
      </p:sp>
      <p:sp>
        <p:nvSpPr>
          <p:cNvPr id="11" name="TextBox 10"/>
          <p:cNvSpPr txBox="1"/>
          <p:nvPr/>
        </p:nvSpPr>
        <p:spPr>
          <a:xfrm>
            <a:off x="480000" y="1340000"/>
            <a:ext cx="2748000" cy="180000"/>
          </a:xfrm>
          <a:prstGeom prst="rect">
            <a:avLst/>
          </a:prstGeom>
          <a:noFill/>
        </p:spPr>
        <p:txBody>
          <a:bodyPr wrap="square">
            <a:spAutoFit/>
          </a:bodyPr>
          <a:lstStyle/>
          <a:p>
            <a:pPr algn="l"/>
            <a:r>
              <a:rPr sz="900" b="1" i="0">
                <a:solidFill>
                  <a:srgbClr val="CC2828"/>
                </a:solidFill>
                <a:latin typeface="Arial"/>
              </a:rPr>
              <a:t>▲5.2%</a:t>
            </a:r>
          </a:p>
        </p:txBody>
      </p:sp>
      <p:sp>
        <p:nvSpPr>
          <p:cNvPr id="12" name="Rectangle 11"/>
          <p:cNvSpPr/>
          <p:nvPr/>
        </p:nvSpPr>
        <p:spPr>
          <a:xfrm>
            <a:off x="3328000" y="780000"/>
            <a:ext cx="2848000" cy="7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28000" y="780000"/>
            <a:ext cx="2848000" cy="12000"/>
          </a:xfrm>
          <a:prstGeom prst="rect">
            <a:avLst/>
          </a:prstGeom>
          <a:solidFill>
            <a:srgbClr val="CC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08000" y="840000"/>
            <a:ext cx="2748000" cy="260000"/>
          </a:xfrm>
          <a:prstGeom prst="rect">
            <a:avLst/>
          </a:prstGeom>
          <a:noFill/>
        </p:spPr>
        <p:txBody>
          <a:bodyPr wrap="square">
            <a:spAutoFit/>
          </a:bodyPr>
          <a:lstStyle/>
          <a:p>
            <a:pPr algn="l"/>
            <a:r>
              <a:rPr sz="900" b="0" i="0">
                <a:solidFill>
                  <a:srgbClr val="55657A"/>
                </a:solidFill>
                <a:latin typeface="Arial"/>
              </a:rPr>
              <a:t>総販売数量</a:t>
            </a:r>
          </a:p>
        </p:txBody>
      </p:sp>
      <p:sp>
        <p:nvSpPr>
          <p:cNvPr id="15" name="TextBox 14"/>
          <p:cNvSpPr txBox="1"/>
          <p:nvPr/>
        </p:nvSpPr>
        <p:spPr>
          <a:xfrm>
            <a:off x="3408000" y="1060000"/>
            <a:ext cx="2748000" cy="320000"/>
          </a:xfrm>
          <a:prstGeom prst="rect">
            <a:avLst/>
          </a:prstGeom>
          <a:noFill/>
        </p:spPr>
        <p:txBody>
          <a:bodyPr wrap="square">
            <a:spAutoFit/>
          </a:bodyPr>
          <a:lstStyle/>
          <a:p>
            <a:pPr algn="l"/>
            <a:r>
              <a:rPr sz="1500" b="1" i="0">
                <a:solidFill>
                  <a:srgbClr val="1A1A2E"/>
                </a:solidFill>
                <a:latin typeface="Arial"/>
              </a:rPr>
              <a:t>897 個</a:t>
            </a:r>
          </a:p>
        </p:txBody>
      </p:sp>
      <p:sp>
        <p:nvSpPr>
          <p:cNvPr id="16" name="TextBox 15"/>
          <p:cNvSpPr txBox="1"/>
          <p:nvPr/>
        </p:nvSpPr>
        <p:spPr>
          <a:xfrm>
            <a:off x="3408000" y="1340000"/>
            <a:ext cx="2748000" cy="180000"/>
          </a:xfrm>
          <a:prstGeom prst="rect">
            <a:avLst/>
          </a:prstGeom>
          <a:noFill/>
        </p:spPr>
        <p:txBody>
          <a:bodyPr wrap="square">
            <a:spAutoFit/>
          </a:bodyPr>
          <a:lstStyle/>
          <a:p>
            <a:pPr algn="l"/>
            <a:r>
              <a:rPr sz="900" b="1" i="0">
                <a:solidFill>
                  <a:srgbClr val="CC2828"/>
                </a:solidFill>
                <a:latin typeface="Arial"/>
              </a:rPr>
              <a:t>▲4.8%</a:t>
            </a:r>
          </a:p>
        </p:txBody>
      </p:sp>
      <p:sp>
        <p:nvSpPr>
          <p:cNvPr id="17" name="Rectangle 16"/>
          <p:cNvSpPr/>
          <p:nvPr/>
        </p:nvSpPr>
        <p:spPr>
          <a:xfrm>
            <a:off x="6256000" y="780000"/>
            <a:ext cx="2848000" cy="7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56000" y="780000"/>
            <a:ext cx="2848000" cy="12000"/>
          </a:xfrm>
          <a:prstGeom prst="rect">
            <a:avLst/>
          </a:prstGeom>
          <a:solidFill>
            <a:srgbClr val="CC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6000" y="840000"/>
            <a:ext cx="2748000" cy="260000"/>
          </a:xfrm>
          <a:prstGeom prst="rect">
            <a:avLst/>
          </a:prstGeom>
          <a:noFill/>
        </p:spPr>
        <p:txBody>
          <a:bodyPr wrap="square">
            <a:spAutoFit/>
          </a:bodyPr>
          <a:lstStyle/>
          <a:p>
            <a:pPr algn="l"/>
            <a:r>
              <a:rPr sz="900" b="0" i="0">
                <a:solidFill>
                  <a:srgbClr val="55657A"/>
                </a:solidFill>
                <a:latin typeface="Arial"/>
              </a:rPr>
              <a:t>平均利益率</a:t>
            </a:r>
          </a:p>
        </p:txBody>
      </p:sp>
      <p:sp>
        <p:nvSpPr>
          <p:cNvPr id="20" name="TextBox 19"/>
          <p:cNvSpPr txBox="1"/>
          <p:nvPr/>
        </p:nvSpPr>
        <p:spPr>
          <a:xfrm>
            <a:off x="6336000" y="1060000"/>
            <a:ext cx="2748000" cy="320000"/>
          </a:xfrm>
          <a:prstGeom prst="rect">
            <a:avLst/>
          </a:prstGeom>
          <a:noFill/>
        </p:spPr>
        <p:txBody>
          <a:bodyPr wrap="square">
            <a:spAutoFit/>
          </a:bodyPr>
          <a:lstStyle/>
          <a:p>
            <a:pPr algn="l"/>
            <a:r>
              <a:rPr sz="1500" b="1" i="0">
                <a:solidFill>
                  <a:srgbClr val="1A1A2E"/>
                </a:solidFill>
                <a:latin typeface="Arial"/>
              </a:rPr>
              <a:t>49.2%</a:t>
            </a:r>
          </a:p>
        </p:txBody>
      </p:sp>
      <p:sp>
        <p:nvSpPr>
          <p:cNvPr id="21" name="TextBox 20"/>
          <p:cNvSpPr txBox="1"/>
          <p:nvPr/>
        </p:nvSpPr>
        <p:spPr>
          <a:xfrm>
            <a:off x="6336000" y="1340000"/>
            <a:ext cx="2748000" cy="180000"/>
          </a:xfrm>
          <a:prstGeom prst="rect">
            <a:avLst/>
          </a:prstGeom>
          <a:noFill/>
        </p:spPr>
        <p:txBody>
          <a:bodyPr wrap="square">
            <a:spAutoFit/>
          </a:bodyPr>
          <a:lstStyle/>
          <a:p>
            <a:pPr algn="l"/>
            <a:r>
              <a:rPr sz="900" b="1" i="0">
                <a:solidFill>
                  <a:srgbClr val="CC2828"/>
                </a:solidFill>
                <a:latin typeface="Arial"/>
              </a:rPr>
              <a:t>▲1.5pt</a:t>
            </a:r>
          </a:p>
        </p:txBody>
      </p:sp>
      <p:sp>
        <p:nvSpPr>
          <p:cNvPr id="22" name="Rectangle 21"/>
          <p:cNvSpPr/>
          <p:nvPr/>
        </p:nvSpPr>
        <p:spPr>
          <a:xfrm>
            <a:off x="9184000" y="780000"/>
            <a:ext cx="2848000" cy="70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84000" y="780000"/>
            <a:ext cx="2848000" cy="12000"/>
          </a:xfrm>
          <a:prstGeom prst="rect">
            <a:avLst/>
          </a:prstGeom>
          <a:solidFill>
            <a:srgbClr val="1A5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64000" y="840000"/>
            <a:ext cx="2748000" cy="260000"/>
          </a:xfrm>
          <a:prstGeom prst="rect">
            <a:avLst/>
          </a:prstGeom>
          <a:noFill/>
        </p:spPr>
        <p:txBody>
          <a:bodyPr wrap="square">
            <a:spAutoFit/>
          </a:bodyPr>
          <a:lstStyle/>
          <a:p>
            <a:pPr algn="l"/>
            <a:r>
              <a:rPr sz="900" b="0" i="0">
                <a:solidFill>
                  <a:srgbClr val="55657A"/>
                </a:solidFill>
                <a:latin typeface="Arial"/>
              </a:rPr>
              <a:t>最高売上商品</a:t>
            </a:r>
          </a:p>
        </p:txBody>
      </p:sp>
      <p:sp>
        <p:nvSpPr>
          <p:cNvPr id="25" name="TextBox 24"/>
          <p:cNvSpPr txBox="1"/>
          <p:nvPr/>
        </p:nvSpPr>
        <p:spPr>
          <a:xfrm>
            <a:off x="9264000" y="1060000"/>
            <a:ext cx="2748000" cy="320000"/>
          </a:xfrm>
          <a:prstGeom prst="rect">
            <a:avLst/>
          </a:prstGeom>
          <a:noFill/>
        </p:spPr>
        <p:txBody>
          <a:bodyPr wrap="square">
            <a:spAutoFit/>
          </a:bodyPr>
          <a:lstStyle/>
          <a:p>
            <a:pPr algn="l"/>
            <a:r>
              <a:rPr sz="1500" b="1" i="0">
                <a:solidFill>
                  <a:srgbClr val="1A1A2E"/>
                </a:solidFill>
                <a:latin typeface="Arial"/>
              </a:rPr>
              <a:t>プレミアムP</a:t>
            </a:r>
          </a:p>
        </p:txBody>
      </p:sp>
      <p:sp>
        <p:nvSpPr>
          <p:cNvPr id="26" name="TextBox 25"/>
          <p:cNvSpPr txBox="1"/>
          <p:nvPr/>
        </p:nvSpPr>
        <p:spPr>
          <a:xfrm>
            <a:off x="9264000" y="1340000"/>
            <a:ext cx="2748000" cy="180000"/>
          </a:xfrm>
          <a:prstGeom prst="rect">
            <a:avLst/>
          </a:prstGeom>
          <a:noFill/>
        </p:spPr>
        <p:txBody>
          <a:bodyPr wrap="square">
            <a:spAutoFit/>
          </a:bodyPr>
          <a:lstStyle/>
          <a:p>
            <a:pPr algn="l"/>
            <a:r>
              <a:rPr sz="900" b="1" i="0">
                <a:solidFill>
                  <a:srgbClr val="1A56A0"/>
                </a:solidFill>
                <a:latin typeface="Arial"/>
              </a:rPr>
              <a:t>¥1,050万</a:t>
            </a:r>
          </a:p>
        </p:txBody>
      </p:sp>
      <p:sp>
        <p:nvSpPr>
          <p:cNvPr id="27" name="Rectangle 26"/>
          <p:cNvSpPr/>
          <p:nvPr/>
        </p:nvSpPr>
        <p:spPr>
          <a:xfrm>
            <a:off x="400000" y="1620000"/>
            <a:ext cx="320000" cy="440000"/>
          </a:xfrm>
          <a:prstGeom prst="rect">
            <a:avLst/>
          </a:prstGeom>
          <a:solidFill>
            <a:srgbClr val="2C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0000" y="1700000"/>
            <a:ext cx="280000" cy="360000"/>
          </a:xfrm>
          <a:prstGeom prst="rect">
            <a:avLst/>
          </a:prstGeom>
          <a:noFill/>
        </p:spPr>
        <p:txBody>
          <a:bodyPr wrap="square">
            <a:spAutoFit/>
          </a:bodyPr>
          <a:lstStyle/>
          <a:p>
            <a:pPr algn="ctr"/>
            <a:r>
              <a:rPr sz="900" b="1" i="0">
                <a:solidFill>
                  <a:srgbClr val="FFFFFF"/>
                </a:solidFill>
                <a:latin typeface="Arial"/>
              </a:rPr>
              <a:t>月</a:t>
            </a:r>
          </a:p>
        </p:txBody>
      </p:sp>
      <p:sp>
        <p:nvSpPr>
          <p:cNvPr id="29" name="Rectangle 28"/>
          <p:cNvSpPr/>
          <p:nvPr/>
        </p:nvSpPr>
        <p:spPr>
          <a:xfrm>
            <a:off x="720000" y="1620000"/>
            <a:ext cx="1380000" cy="440000"/>
          </a:xfrm>
          <a:prstGeom prst="rect">
            <a:avLst/>
          </a:prstGeom>
          <a:solidFill>
            <a:srgbClr val="2C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0000" y="1700000"/>
            <a:ext cx="1340000" cy="360000"/>
          </a:xfrm>
          <a:prstGeom prst="rect">
            <a:avLst/>
          </a:prstGeom>
          <a:noFill/>
        </p:spPr>
        <p:txBody>
          <a:bodyPr wrap="square">
            <a:spAutoFit/>
          </a:bodyPr>
          <a:lstStyle/>
          <a:p>
            <a:pPr algn="ctr"/>
            <a:r>
              <a:rPr sz="900" b="1" i="0">
                <a:solidFill>
                  <a:srgbClr val="FFFFFF"/>
                </a:solidFill>
                <a:latin typeface="Arial"/>
              </a:rPr>
              <a:t>プレミアムP</a:t>
            </a:r>
          </a:p>
        </p:txBody>
      </p:sp>
      <p:sp>
        <p:nvSpPr>
          <p:cNvPr id="31" name="Rectangle 30"/>
          <p:cNvSpPr/>
          <p:nvPr/>
        </p:nvSpPr>
        <p:spPr>
          <a:xfrm>
            <a:off x="2100000" y="1620000"/>
            <a:ext cx="1380000" cy="440000"/>
          </a:xfrm>
          <a:prstGeom prst="rect">
            <a:avLst/>
          </a:prstGeom>
          <a:solidFill>
            <a:srgbClr val="2C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30000" y="1700000"/>
            <a:ext cx="1340000" cy="360000"/>
          </a:xfrm>
          <a:prstGeom prst="rect">
            <a:avLst/>
          </a:prstGeom>
          <a:noFill/>
        </p:spPr>
        <p:txBody>
          <a:bodyPr wrap="square">
            <a:spAutoFit/>
          </a:bodyPr>
          <a:lstStyle/>
          <a:p>
            <a:pPr algn="ctr"/>
            <a:r>
              <a:rPr sz="900" b="1" i="0">
                <a:solidFill>
                  <a:srgbClr val="FFFFFF"/>
                </a:solidFill>
                <a:latin typeface="Arial"/>
              </a:rPr>
              <a:t>スタンダードP</a:t>
            </a:r>
          </a:p>
        </p:txBody>
      </p:sp>
      <p:sp>
        <p:nvSpPr>
          <p:cNvPr id="33" name="Rectangle 32"/>
          <p:cNvSpPr/>
          <p:nvPr/>
        </p:nvSpPr>
        <p:spPr>
          <a:xfrm>
            <a:off x="3480000" y="1620000"/>
            <a:ext cx="1700000" cy="440000"/>
          </a:xfrm>
          <a:prstGeom prst="rect">
            <a:avLst/>
          </a:prstGeom>
          <a:solidFill>
            <a:srgbClr val="2C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10000" y="1700000"/>
            <a:ext cx="1660000" cy="360000"/>
          </a:xfrm>
          <a:prstGeom prst="rect">
            <a:avLst/>
          </a:prstGeom>
          <a:noFill/>
        </p:spPr>
        <p:txBody>
          <a:bodyPr wrap="square">
            <a:spAutoFit/>
          </a:bodyPr>
          <a:lstStyle/>
          <a:p>
            <a:pPr algn="ctr"/>
            <a:r>
              <a:rPr sz="900" b="1" i="0">
                <a:solidFill>
                  <a:srgbClr val="FFFFFF"/>
                </a:solidFill>
                <a:latin typeface="Arial"/>
              </a:rPr>
              <a:t>コンサルティング</a:t>
            </a:r>
          </a:p>
        </p:txBody>
      </p:sp>
      <p:sp>
        <p:nvSpPr>
          <p:cNvPr id="35" name="Rectangle 34"/>
          <p:cNvSpPr/>
          <p:nvPr/>
        </p:nvSpPr>
        <p:spPr>
          <a:xfrm>
            <a:off x="5180000" y="1620000"/>
            <a:ext cx="900000" cy="440000"/>
          </a:xfrm>
          <a:prstGeom prst="rect">
            <a:avLst/>
          </a:prstGeom>
          <a:solidFill>
            <a:srgbClr val="2C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0000" y="1700000"/>
            <a:ext cx="860000" cy="360000"/>
          </a:xfrm>
          <a:prstGeom prst="rect">
            <a:avLst/>
          </a:prstGeom>
          <a:noFill/>
        </p:spPr>
        <p:txBody>
          <a:bodyPr wrap="square">
            <a:spAutoFit/>
          </a:bodyPr>
          <a:lstStyle/>
          <a:p>
            <a:pPr algn="ctr"/>
            <a:r>
              <a:rPr sz="900" b="1" i="0">
                <a:solidFill>
                  <a:srgbClr val="FFFFFF"/>
                </a:solidFill>
                <a:latin typeface="Arial"/>
              </a:rPr>
              <a:t>保守S</a:t>
            </a:r>
          </a:p>
        </p:txBody>
      </p:sp>
      <p:sp>
        <p:nvSpPr>
          <p:cNvPr id="37" name="Rectangle 36"/>
          <p:cNvSpPr/>
          <p:nvPr/>
        </p:nvSpPr>
        <p:spPr>
          <a:xfrm>
            <a:off x="6080000" y="1620000"/>
            <a:ext cx="1150000" cy="440000"/>
          </a:xfrm>
          <a:prstGeom prst="rect">
            <a:avLst/>
          </a:prstGeom>
          <a:solidFill>
            <a:srgbClr val="2C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10000" y="1700000"/>
            <a:ext cx="1110000" cy="360000"/>
          </a:xfrm>
          <a:prstGeom prst="rect">
            <a:avLst/>
          </a:prstGeom>
          <a:noFill/>
        </p:spPr>
        <p:txBody>
          <a:bodyPr wrap="square">
            <a:spAutoFit/>
          </a:bodyPr>
          <a:lstStyle/>
          <a:p>
            <a:pPr algn="ctr"/>
            <a:r>
              <a:rPr sz="900" b="1" i="0">
                <a:solidFill>
                  <a:srgbClr val="FFFFFF"/>
                </a:solidFill>
                <a:latin typeface="Arial"/>
              </a:rPr>
              <a:t>合計</a:t>
            </a:r>
          </a:p>
        </p:txBody>
      </p:sp>
      <p:sp>
        <p:nvSpPr>
          <p:cNvPr id="39" name="Rectangle 38"/>
          <p:cNvSpPr/>
          <p:nvPr/>
        </p:nvSpPr>
        <p:spPr>
          <a:xfrm>
            <a:off x="7230000" y="1620000"/>
            <a:ext cx="900000" cy="440000"/>
          </a:xfrm>
          <a:prstGeom prst="rect">
            <a:avLst/>
          </a:prstGeom>
          <a:solidFill>
            <a:srgbClr val="2C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60000" y="1700000"/>
            <a:ext cx="860000" cy="360000"/>
          </a:xfrm>
          <a:prstGeom prst="rect">
            <a:avLst/>
          </a:prstGeom>
          <a:noFill/>
        </p:spPr>
        <p:txBody>
          <a:bodyPr wrap="square">
            <a:spAutoFit/>
          </a:bodyPr>
          <a:lstStyle/>
          <a:p>
            <a:pPr algn="ctr"/>
            <a:r>
              <a:rPr sz="900" b="1" i="0">
                <a:solidFill>
                  <a:srgbClr val="FFFFFF"/>
                </a:solidFill>
                <a:latin typeface="Arial"/>
              </a:rPr>
              <a:t>利益率</a:t>
            </a:r>
          </a:p>
        </p:txBody>
      </p:sp>
      <p:sp>
        <p:nvSpPr>
          <p:cNvPr id="41" name="Rectangle 40"/>
          <p:cNvSpPr/>
          <p:nvPr/>
        </p:nvSpPr>
        <p:spPr>
          <a:xfrm>
            <a:off x="400000" y="2060000"/>
            <a:ext cx="32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0000" y="2140000"/>
            <a:ext cx="280000" cy="360000"/>
          </a:xfrm>
          <a:prstGeom prst="rect">
            <a:avLst/>
          </a:prstGeom>
          <a:noFill/>
        </p:spPr>
        <p:txBody>
          <a:bodyPr wrap="square">
            <a:spAutoFit/>
          </a:bodyPr>
          <a:lstStyle/>
          <a:p>
            <a:pPr algn="ctr"/>
            <a:r>
              <a:rPr sz="950" b="0" i="0">
                <a:solidFill>
                  <a:srgbClr val="1A1A2E"/>
                </a:solidFill>
                <a:latin typeface="Arial"/>
              </a:rPr>
              <a:t>1月</a:t>
            </a:r>
          </a:p>
        </p:txBody>
      </p:sp>
      <p:sp>
        <p:nvSpPr>
          <p:cNvPr id="43" name="Rectangle 42"/>
          <p:cNvSpPr/>
          <p:nvPr/>
        </p:nvSpPr>
        <p:spPr>
          <a:xfrm>
            <a:off x="720000" y="2060000"/>
            <a:ext cx="138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0000" y="2140000"/>
            <a:ext cx="1340000" cy="360000"/>
          </a:xfrm>
          <a:prstGeom prst="rect">
            <a:avLst/>
          </a:prstGeom>
          <a:noFill/>
        </p:spPr>
        <p:txBody>
          <a:bodyPr wrap="square">
            <a:spAutoFit/>
          </a:bodyPr>
          <a:lstStyle/>
          <a:p>
            <a:pPr algn="ctr"/>
            <a:r>
              <a:rPr sz="950" b="0" i="0">
                <a:solidFill>
                  <a:srgbClr val="1A1A2E"/>
                </a:solidFill>
                <a:latin typeface="Arial"/>
              </a:rPr>
              <a:t>380万</a:t>
            </a:r>
          </a:p>
        </p:txBody>
      </p:sp>
      <p:sp>
        <p:nvSpPr>
          <p:cNvPr id="45" name="Rectangle 44"/>
          <p:cNvSpPr/>
          <p:nvPr/>
        </p:nvSpPr>
        <p:spPr>
          <a:xfrm>
            <a:off x="2100000" y="2060000"/>
            <a:ext cx="138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130000" y="2140000"/>
            <a:ext cx="1340000" cy="360000"/>
          </a:xfrm>
          <a:prstGeom prst="rect">
            <a:avLst/>
          </a:prstGeom>
          <a:noFill/>
        </p:spPr>
        <p:txBody>
          <a:bodyPr wrap="square">
            <a:spAutoFit/>
          </a:bodyPr>
          <a:lstStyle/>
          <a:p>
            <a:pPr algn="ctr"/>
            <a:r>
              <a:rPr sz="950" b="0" i="0">
                <a:solidFill>
                  <a:srgbClr val="1A1A2E"/>
                </a:solidFill>
                <a:latin typeface="Arial"/>
              </a:rPr>
              <a:t>240万</a:t>
            </a:r>
          </a:p>
        </p:txBody>
      </p:sp>
      <p:sp>
        <p:nvSpPr>
          <p:cNvPr id="47" name="Rectangle 46"/>
          <p:cNvSpPr/>
          <p:nvPr/>
        </p:nvSpPr>
        <p:spPr>
          <a:xfrm>
            <a:off x="3480000" y="2060000"/>
            <a:ext cx="170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510000" y="2140000"/>
            <a:ext cx="1660000" cy="360000"/>
          </a:xfrm>
          <a:prstGeom prst="rect">
            <a:avLst/>
          </a:prstGeom>
          <a:noFill/>
        </p:spPr>
        <p:txBody>
          <a:bodyPr wrap="square">
            <a:spAutoFit/>
          </a:bodyPr>
          <a:lstStyle/>
          <a:p>
            <a:pPr algn="ctr"/>
            <a:r>
              <a:rPr sz="950" b="0" i="0">
                <a:solidFill>
                  <a:srgbClr val="1A1A2E"/>
                </a:solidFill>
                <a:latin typeface="Arial"/>
              </a:rPr>
              <a:t>230万</a:t>
            </a:r>
          </a:p>
        </p:txBody>
      </p:sp>
      <p:sp>
        <p:nvSpPr>
          <p:cNvPr id="49" name="Rectangle 48"/>
          <p:cNvSpPr/>
          <p:nvPr/>
        </p:nvSpPr>
        <p:spPr>
          <a:xfrm>
            <a:off x="5180000" y="2060000"/>
            <a:ext cx="90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210000" y="2140000"/>
            <a:ext cx="860000" cy="360000"/>
          </a:xfrm>
          <a:prstGeom prst="rect">
            <a:avLst/>
          </a:prstGeom>
          <a:noFill/>
        </p:spPr>
        <p:txBody>
          <a:bodyPr wrap="square">
            <a:spAutoFit/>
          </a:bodyPr>
          <a:lstStyle/>
          <a:p>
            <a:pPr algn="ctr"/>
            <a:r>
              <a:rPr sz="950" b="0" i="0">
                <a:solidFill>
                  <a:srgbClr val="1A1A2E"/>
                </a:solidFill>
                <a:latin typeface="Arial"/>
              </a:rPr>
              <a:t>90万</a:t>
            </a:r>
          </a:p>
        </p:txBody>
      </p:sp>
      <p:sp>
        <p:nvSpPr>
          <p:cNvPr id="51" name="Rectangle 50"/>
          <p:cNvSpPr/>
          <p:nvPr/>
        </p:nvSpPr>
        <p:spPr>
          <a:xfrm>
            <a:off x="6080000" y="2060000"/>
            <a:ext cx="115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10000" y="2140000"/>
            <a:ext cx="1110000" cy="360000"/>
          </a:xfrm>
          <a:prstGeom prst="rect">
            <a:avLst/>
          </a:prstGeom>
          <a:noFill/>
        </p:spPr>
        <p:txBody>
          <a:bodyPr wrap="square">
            <a:spAutoFit/>
          </a:bodyPr>
          <a:lstStyle/>
          <a:p>
            <a:pPr algn="ctr"/>
            <a:r>
              <a:rPr sz="950" b="0" i="0">
                <a:solidFill>
                  <a:srgbClr val="1A1A2E"/>
                </a:solidFill>
                <a:latin typeface="Arial"/>
              </a:rPr>
              <a:t>940万</a:t>
            </a:r>
          </a:p>
        </p:txBody>
      </p:sp>
      <p:sp>
        <p:nvSpPr>
          <p:cNvPr id="53" name="Rectangle 52"/>
          <p:cNvSpPr/>
          <p:nvPr/>
        </p:nvSpPr>
        <p:spPr>
          <a:xfrm>
            <a:off x="7230000" y="2060000"/>
            <a:ext cx="90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60000" y="2140000"/>
            <a:ext cx="860000" cy="360000"/>
          </a:xfrm>
          <a:prstGeom prst="rect">
            <a:avLst/>
          </a:prstGeom>
          <a:noFill/>
        </p:spPr>
        <p:txBody>
          <a:bodyPr wrap="square">
            <a:spAutoFit/>
          </a:bodyPr>
          <a:lstStyle/>
          <a:p>
            <a:pPr algn="ctr"/>
            <a:r>
              <a:rPr sz="950" b="0" i="0">
                <a:solidFill>
                  <a:srgbClr val="1A1A2E"/>
                </a:solidFill>
                <a:latin typeface="Arial"/>
              </a:rPr>
              <a:t>50.1%</a:t>
            </a:r>
          </a:p>
        </p:txBody>
      </p:sp>
      <p:sp>
        <p:nvSpPr>
          <p:cNvPr id="55" name="Rectangle 54"/>
          <p:cNvSpPr/>
          <p:nvPr/>
        </p:nvSpPr>
        <p:spPr>
          <a:xfrm>
            <a:off x="400000" y="2500000"/>
            <a:ext cx="320000" cy="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30000" y="2580000"/>
            <a:ext cx="280000" cy="360000"/>
          </a:xfrm>
          <a:prstGeom prst="rect">
            <a:avLst/>
          </a:prstGeom>
          <a:noFill/>
        </p:spPr>
        <p:txBody>
          <a:bodyPr wrap="square">
            <a:spAutoFit/>
          </a:bodyPr>
          <a:lstStyle/>
          <a:p>
            <a:pPr algn="ctr"/>
            <a:r>
              <a:rPr sz="950" b="0" i="0">
                <a:solidFill>
                  <a:srgbClr val="1A1A2E"/>
                </a:solidFill>
                <a:latin typeface="Arial"/>
              </a:rPr>
              <a:t>2月</a:t>
            </a:r>
          </a:p>
        </p:txBody>
      </p:sp>
      <p:sp>
        <p:nvSpPr>
          <p:cNvPr id="57" name="Rectangle 56"/>
          <p:cNvSpPr/>
          <p:nvPr/>
        </p:nvSpPr>
        <p:spPr>
          <a:xfrm>
            <a:off x="720000" y="2500000"/>
            <a:ext cx="1380000" cy="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50000" y="2580000"/>
            <a:ext cx="1340000" cy="360000"/>
          </a:xfrm>
          <a:prstGeom prst="rect">
            <a:avLst/>
          </a:prstGeom>
          <a:noFill/>
        </p:spPr>
        <p:txBody>
          <a:bodyPr wrap="square">
            <a:spAutoFit/>
          </a:bodyPr>
          <a:lstStyle/>
          <a:p>
            <a:pPr algn="ctr"/>
            <a:r>
              <a:rPr sz="950" b="0" i="0">
                <a:solidFill>
                  <a:srgbClr val="1A1A2E"/>
                </a:solidFill>
                <a:latin typeface="Arial"/>
              </a:rPr>
              <a:t>340万</a:t>
            </a:r>
          </a:p>
        </p:txBody>
      </p:sp>
      <p:sp>
        <p:nvSpPr>
          <p:cNvPr id="59" name="Rectangle 58"/>
          <p:cNvSpPr/>
          <p:nvPr/>
        </p:nvSpPr>
        <p:spPr>
          <a:xfrm>
            <a:off x="2100000" y="2500000"/>
            <a:ext cx="1380000" cy="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130000" y="2580000"/>
            <a:ext cx="1340000" cy="360000"/>
          </a:xfrm>
          <a:prstGeom prst="rect">
            <a:avLst/>
          </a:prstGeom>
          <a:noFill/>
        </p:spPr>
        <p:txBody>
          <a:bodyPr wrap="square">
            <a:spAutoFit/>
          </a:bodyPr>
          <a:lstStyle/>
          <a:p>
            <a:pPr algn="ctr"/>
            <a:r>
              <a:rPr sz="950" b="0" i="0">
                <a:solidFill>
                  <a:srgbClr val="1A1A2E"/>
                </a:solidFill>
                <a:latin typeface="Arial"/>
              </a:rPr>
              <a:t>230万</a:t>
            </a:r>
          </a:p>
        </p:txBody>
      </p:sp>
      <p:sp>
        <p:nvSpPr>
          <p:cNvPr id="61" name="Rectangle 60"/>
          <p:cNvSpPr/>
          <p:nvPr/>
        </p:nvSpPr>
        <p:spPr>
          <a:xfrm>
            <a:off x="3480000" y="2500000"/>
            <a:ext cx="1700000" cy="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510000" y="2580000"/>
            <a:ext cx="1660000" cy="360000"/>
          </a:xfrm>
          <a:prstGeom prst="rect">
            <a:avLst/>
          </a:prstGeom>
          <a:noFill/>
        </p:spPr>
        <p:txBody>
          <a:bodyPr wrap="square">
            <a:spAutoFit/>
          </a:bodyPr>
          <a:lstStyle/>
          <a:p>
            <a:pPr algn="ctr"/>
            <a:r>
              <a:rPr sz="950" b="0" i="0">
                <a:solidFill>
                  <a:srgbClr val="1A1A2E"/>
                </a:solidFill>
                <a:latin typeface="Arial"/>
              </a:rPr>
              <a:t>185万</a:t>
            </a:r>
          </a:p>
        </p:txBody>
      </p:sp>
      <p:sp>
        <p:nvSpPr>
          <p:cNvPr id="63" name="Rectangle 62"/>
          <p:cNvSpPr/>
          <p:nvPr/>
        </p:nvSpPr>
        <p:spPr>
          <a:xfrm>
            <a:off x="5180000" y="2500000"/>
            <a:ext cx="900000" cy="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210000" y="2580000"/>
            <a:ext cx="860000" cy="360000"/>
          </a:xfrm>
          <a:prstGeom prst="rect">
            <a:avLst/>
          </a:prstGeom>
          <a:noFill/>
        </p:spPr>
        <p:txBody>
          <a:bodyPr wrap="square">
            <a:spAutoFit/>
          </a:bodyPr>
          <a:lstStyle/>
          <a:p>
            <a:pPr algn="ctr"/>
            <a:r>
              <a:rPr sz="950" b="0" i="0">
                <a:solidFill>
                  <a:srgbClr val="1A1A2E"/>
                </a:solidFill>
                <a:latin typeface="Arial"/>
              </a:rPr>
              <a:t>87万</a:t>
            </a:r>
          </a:p>
        </p:txBody>
      </p:sp>
      <p:sp>
        <p:nvSpPr>
          <p:cNvPr id="65" name="Rectangle 64"/>
          <p:cNvSpPr/>
          <p:nvPr/>
        </p:nvSpPr>
        <p:spPr>
          <a:xfrm>
            <a:off x="6080000" y="2500000"/>
            <a:ext cx="1150000" cy="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10000" y="2580000"/>
            <a:ext cx="1110000" cy="360000"/>
          </a:xfrm>
          <a:prstGeom prst="rect">
            <a:avLst/>
          </a:prstGeom>
          <a:noFill/>
        </p:spPr>
        <p:txBody>
          <a:bodyPr wrap="square">
            <a:spAutoFit/>
          </a:bodyPr>
          <a:lstStyle/>
          <a:p>
            <a:pPr algn="ctr"/>
            <a:r>
              <a:rPr sz="950" b="0" i="0">
                <a:solidFill>
                  <a:srgbClr val="1A1A2E"/>
                </a:solidFill>
                <a:latin typeface="Arial"/>
              </a:rPr>
              <a:t>842万</a:t>
            </a:r>
          </a:p>
        </p:txBody>
      </p:sp>
      <p:sp>
        <p:nvSpPr>
          <p:cNvPr id="67" name="Rectangle 66"/>
          <p:cNvSpPr/>
          <p:nvPr/>
        </p:nvSpPr>
        <p:spPr>
          <a:xfrm>
            <a:off x="7230000" y="2500000"/>
            <a:ext cx="900000" cy="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60000" y="2580000"/>
            <a:ext cx="860000" cy="360000"/>
          </a:xfrm>
          <a:prstGeom prst="rect">
            <a:avLst/>
          </a:prstGeom>
          <a:noFill/>
        </p:spPr>
        <p:txBody>
          <a:bodyPr wrap="square">
            <a:spAutoFit/>
          </a:bodyPr>
          <a:lstStyle/>
          <a:p>
            <a:pPr algn="ctr"/>
            <a:r>
              <a:rPr sz="950" b="0" i="0">
                <a:solidFill>
                  <a:srgbClr val="1A1A2E"/>
                </a:solidFill>
                <a:latin typeface="Arial"/>
              </a:rPr>
              <a:t>48.6%</a:t>
            </a:r>
          </a:p>
        </p:txBody>
      </p:sp>
      <p:sp>
        <p:nvSpPr>
          <p:cNvPr id="69" name="Rectangle 68"/>
          <p:cNvSpPr/>
          <p:nvPr/>
        </p:nvSpPr>
        <p:spPr>
          <a:xfrm>
            <a:off x="400000" y="2940000"/>
            <a:ext cx="32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30000" y="3020000"/>
            <a:ext cx="280000" cy="360000"/>
          </a:xfrm>
          <a:prstGeom prst="rect">
            <a:avLst/>
          </a:prstGeom>
          <a:noFill/>
        </p:spPr>
        <p:txBody>
          <a:bodyPr wrap="square">
            <a:spAutoFit/>
          </a:bodyPr>
          <a:lstStyle/>
          <a:p>
            <a:pPr algn="ctr"/>
            <a:r>
              <a:rPr sz="950" b="0" i="0">
                <a:solidFill>
                  <a:srgbClr val="1A1A2E"/>
                </a:solidFill>
                <a:latin typeface="Arial"/>
              </a:rPr>
              <a:t>3月</a:t>
            </a:r>
          </a:p>
        </p:txBody>
      </p:sp>
      <p:sp>
        <p:nvSpPr>
          <p:cNvPr id="71" name="Rectangle 70"/>
          <p:cNvSpPr/>
          <p:nvPr/>
        </p:nvSpPr>
        <p:spPr>
          <a:xfrm>
            <a:off x="720000" y="2940000"/>
            <a:ext cx="138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50000" y="3020000"/>
            <a:ext cx="1340000" cy="360000"/>
          </a:xfrm>
          <a:prstGeom prst="rect">
            <a:avLst/>
          </a:prstGeom>
          <a:noFill/>
        </p:spPr>
        <p:txBody>
          <a:bodyPr wrap="square">
            <a:spAutoFit/>
          </a:bodyPr>
          <a:lstStyle/>
          <a:p>
            <a:pPr algn="ctr"/>
            <a:r>
              <a:rPr sz="950" b="0" i="0">
                <a:solidFill>
                  <a:srgbClr val="1A1A2E"/>
                </a:solidFill>
                <a:latin typeface="Arial"/>
              </a:rPr>
              <a:t>330万</a:t>
            </a:r>
          </a:p>
        </p:txBody>
      </p:sp>
      <p:sp>
        <p:nvSpPr>
          <p:cNvPr id="73" name="Rectangle 72"/>
          <p:cNvSpPr/>
          <p:nvPr/>
        </p:nvSpPr>
        <p:spPr>
          <a:xfrm>
            <a:off x="2100000" y="2940000"/>
            <a:ext cx="138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130000" y="3020000"/>
            <a:ext cx="1340000" cy="360000"/>
          </a:xfrm>
          <a:prstGeom prst="rect">
            <a:avLst/>
          </a:prstGeom>
          <a:noFill/>
        </p:spPr>
        <p:txBody>
          <a:bodyPr wrap="square">
            <a:spAutoFit/>
          </a:bodyPr>
          <a:lstStyle/>
          <a:p>
            <a:pPr algn="ctr"/>
            <a:r>
              <a:rPr sz="950" b="0" i="0">
                <a:solidFill>
                  <a:srgbClr val="1A1A2E"/>
                </a:solidFill>
                <a:latin typeface="Arial"/>
              </a:rPr>
              <a:t>240万</a:t>
            </a:r>
          </a:p>
        </p:txBody>
      </p:sp>
      <p:sp>
        <p:nvSpPr>
          <p:cNvPr id="75" name="Rectangle 74"/>
          <p:cNvSpPr/>
          <p:nvPr/>
        </p:nvSpPr>
        <p:spPr>
          <a:xfrm>
            <a:off x="3480000" y="2940000"/>
            <a:ext cx="170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510000" y="3020000"/>
            <a:ext cx="1660000" cy="360000"/>
          </a:xfrm>
          <a:prstGeom prst="rect">
            <a:avLst/>
          </a:prstGeom>
          <a:noFill/>
        </p:spPr>
        <p:txBody>
          <a:bodyPr wrap="square">
            <a:spAutoFit/>
          </a:bodyPr>
          <a:lstStyle/>
          <a:p>
            <a:pPr algn="ctr"/>
            <a:r>
              <a:rPr sz="950" b="0" i="0">
                <a:solidFill>
                  <a:srgbClr val="1A1A2E"/>
                </a:solidFill>
                <a:latin typeface="Arial"/>
              </a:rPr>
              <a:t>205万</a:t>
            </a:r>
          </a:p>
        </p:txBody>
      </p:sp>
      <p:sp>
        <p:nvSpPr>
          <p:cNvPr id="77" name="Rectangle 76"/>
          <p:cNvSpPr/>
          <p:nvPr/>
        </p:nvSpPr>
        <p:spPr>
          <a:xfrm>
            <a:off x="5180000" y="2940000"/>
            <a:ext cx="90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210000" y="3020000"/>
            <a:ext cx="860000" cy="360000"/>
          </a:xfrm>
          <a:prstGeom prst="rect">
            <a:avLst/>
          </a:prstGeom>
          <a:noFill/>
        </p:spPr>
        <p:txBody>
          <a:bodyPr wrap="square">
            <a:spAutoFit/>
          </a:bodyPr>
          <a:lstStyle/>
          <a:p>
            <a:pPr algn="ctr"/>
            <a:r>
              <a:rPr sz="950" b="0" i="0">
                <a:solidFill>
                  <a:srgbClr val="1A1A2E"/>
                </a:solidFill>
                <a:latin typeface="Arial"/>
              </a:rPr>
              <a:t>83万</a:t>
            </a:r>
          </a:p>
        </p:txBody>
      </p:sp>
      <p:sp>
        <p:nvSpPr>
          <p:cNvPr id="79" name="Rectangle 78"/>
          <p:cNvSpPr/>
          <p:nvPr/>
        </p:nvSpPr>
        <p:spPr>
          <a:xfrm>
            <a:off x="6080000" y="2940000"/>
            <a:ext cx="115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6110000" y="3020000"/>
            <a:ext cx="1110000" cy="360000"/>
          </a:xfrm>
          <a:prstGeom prst="rect">
            <a:avLst/>
          </a:prstGeom>
          <a:noFill/>
        </p:spPr>
        <p:txBody>
          <a:bodyPr wrap="square">
            <a:spAutoFit/>
          </a:bodyPr>
          <a:lstStyle/>
          <a:p>
            <a:pPr algn="ctr"/>
            <a:r>
              <a:rPr sz="950" b="0" i="0">
                <a:solidFill>
                  <a:srgbClr val="1A1A2E"/>
                </a:solidFill>
                <a:latin typeface="Arial"/>
              </a:rPr>
              <a:t>858万</a:t>
            </a:r>
          </a:p>
        </p:txBody>
      </p:sp>
      <p:sp>
        <p:nvSpPr>
          <p:cNvPr id="81" name="Rectangle 80"/>
          <p:cNvSpPr/>
          <p:nvPr/>
        </p:nvSpPr>
        <p:spPr>
          <a:xfrm>
            <a:off x="7230000" y="2940000"/>
            <a:ext cx="900000" cy="4400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260000" y="3020000"/>
            <a:ext cx="860000" cy="360000"/>
          </a:xfrm>
          <a:prstGeom prst="rect">
            <a:avLst/>
          </a:prstGeom>
          <a:noFill/>
        </p:spPr>
        <p:txBody>
          <a:bodyPr wrap="square">
            <a:spAutoFit/>
          </a:bodyPr>
          <a:lstStyle/>
          <a:p>
            <a:pPr algn="ctr"/>
            <a:r>
              <a:rPr sz="950" b="0" i="0">
                <a:solidFill>
                  <a:srgbClr val="1A1A2E"/>
                </a:solidFill>
                <a:latin typeface="Arial"/>
              </a:rPr>
              <a:t>48.9%</a:t>
            </a:r>
          </a:p>
        </p:txBody>
      </p:sp>
      <p:sp>
        <p:nvSpPr>
          <p:cNvPr id="83" name="Rectangle 82"/>
          <p:cNvSpPr/>
          <p:nvPr/>
        </p:nvSpPr>
        <p:spPr>
          <a:xfrm>
            <a:off x="400000" y="3380000"/>
            <a:ext cx="320000" cy="44000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30000" y="3460000"/>
            <a:ext cx="280000" cy="360000"/>
          </a:xfrm>
          <a:prstGeom prst="rect">
            <a:avLst/>
          </a:prstGeom>
          <a:noFill/>
        </p:spPr>
        <p:txBody>
          <a:bodyPr wrap="square">
            <a:spAutoFit/>
          </a:bodyPr>
          <a:lstStyle/>
          <a:p>
            <a:pPr algn="ctr"/>
            <a:r>
              <a:rPr sz="950" b="1" i="0">
                <a:solidFill>
                  <a:srgbClr val="1A1A2E"/>
                </a:solidFill>
                <a:latin typeface="Arial"/>
              </a:rPr>
              <a:t>合計</a:t>
            </a:r>
          </a:p>
        </p:txBody>
      </p:sp>
      <p:sp>
        <p:nvSpPr>
          <p:cNvPr id="85" name="Rectangle 84"/>
          <p:cNvSpPr/>
          <p:nvPr/>
        </p:nvSpPr>
        <p:spPr>
          <a:xfrm>
            <a:off x="720000" y="3380000"/>
            <a:ext cx="1380000" cy="44000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50000" y="3460000"/>
            <a:ext cx="1340000" cy="360000"/>
          </a:xfrm>
          <a:prstGeom prst="rect">
            <a:avLst/>
          </a:prstGeom>
          <a:noFill/>
        </p:spPr>
        <p:txBody>
          <a:bodyPr wrap="square">
            <a:spAutoFit/>
          </a:bodyPr>
          <a:lstStyle/>
          <a:p>
            <a:pPr algn="ctr"/>
            <a:r>
              <a:rPr sz="950" b="1" i="0">
                <a:solidFill>
                  <a:srgbClr val="1A1A2E"/>
                </a:solidFill>
                <a:latin typeface="Arial"/>
              </a:rPr>
              <a:t>1,050万</a:t>
            </a:r>
          </a:p>
        </p:txBody>
      </p:sp>
      <p:sp>
        <p:nvSpPr>
          <p:cNvPr id="87" name="Rectangle 86"/>
          <p:cNvSpPr/>
          <p:nvPr/>
        </p:nvSpPr>
        <p:spPr>
          <a:xfrm>
            <a:off x="2100000" y="3380000"/>
            <a:ext cx="1380000" cy="44000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130000" y="3460000"/>
            <a:ext cx="1340000" cy="360000"/>
          </a:xfrm>
          <a:prstGeom prst="rect">
            <a:avLst/>
          </a:prstGeom>
          <a:noFill/>
        </p:spPr>
        <p:txBody>
          <a:bodyPr wrap="square">
            <a:spAutoFit/>
          </a:bodyPr>
          <a:lstStyle/>
          <a:p>
            <a:pPr algn="ctr"/>
            <a:r>
              <a:rPr sz="950" b="1" i="0">
                <a:solidFill>
                  <a:srgbClr val="1A1A2E"/>
                </a:solidFill>
                <a:latin typeface="Arial"/>
              </a:rPr>
              <a:t>710万</a:t>
            </a:r>
          </a:p>
        </p:txBody>
      </p:sp>
      <p:sp>
        <p:nvSpPr>
          <p:cNvPr id="89" name="Rectangle 88"/>
          <p:cNvSpPr/>
          <p:nvPr/>
        </p:nvSpPr>
        <p:spPr>
          <a:xfrm>
            <a:off x="3480000" y="3380000"/>
            <a:ext cx="1700000" cy="44000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510000" y="3460000"/>
            <a:ext cx="1660000" cy="360000"/>
          </a:xfrm>
          <a:prstGeom prst="rect">
            <a:avLst/>
          </a:prstGeom>
          <a:noFill/>
        </p:spPr>
        <p:txBody>
          <a:bodyPr wrap="square">
            <a:spAutoFit/>
          </a:bodyPr>
          <a:lstStyle/>
          <a:p>
            <a:pPr algn="ctr"/>
            <a:r>
              <a:rPr sz="950" b="1" i="0">
                <a:solidFill>
                  <a:srgbClr val="1A1A2E"/>
                </a:solidFill>
                <a:latin typeface="Arial"/>
              </a:rPr>
              <a:t>620万</a:t>
            </a:r>
          </a:p>
        </p:txBody>
      </p:sp>
      <p:sp>
        <p:nvSpPr>
          <p:cNvPr id="91" name="Rectangle 90"/>
          <p:cNvSpPr/>
          <p:nvPr/>
        </p:nvSpPr>
        <p:spPr>
          <a:xfrm>
            <a:off x="5180000" y="3380000"/>
            <a:ext cx="900000" cy="44000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210000" y="3460000"/>
            <a:ext cx="860000" cy="360000"/>
          </a:xfrm>
          <a:prstGeom prst="rect">
            <a:avLst/>
          </a:prstGeom>
          <a:noFill/>
        </p:spPr>
        <p:txBody>
          <a:bodyPr wrap="square">
            <a:spAutoFit/>
          </a:bodyPr>
          <a:lstStyle/>
          <a:p>
            <a:pPr algn="ctr"/>
            <a:r>
              <a:rPr sz="950" b="1" i="0">
                <a:solidFill>
                  <a:srgbClr val="1A1A2E"/>
                </a:solidFill>
                <a:latin typeface="Arial"/>
              </a:rPr>
              <a:t>260万</a:t>
            </a:r>
          </a:p>
        </p:txBody>
      </p:sp>
      <p:sp>
        <p:nvSpPr>
          <p:cNvPr id="93" name="Rectangle 92"/>
          <p:cNvSpPr/>
          <p:nvPr/>
        </p:nvSpPr>
        <p:spPr>
          <a:xfrm>
            <a:off x="6080000" y="3380000"/>
            <a:ext cx="1150000" cy="44000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6110000" y="3460000"/>
            <a:ext cx="1110000" cy="360000"/>
          </a:xfrm>
          <a:prstGeom prst="rect">
            <a:avLst/>
          </a:prstGeom>
          <a:noFill/>
        </p:spPr>
        <p:txBody>
          <a:bodyPr wrap="square">
            <a:spAutoFit/>
          </a:bodyPr>
          <a:lstStyle/>
          <a:p>
            <a:pPr algn="ctr"/>
            <a:r>
              <a:rPr sz="950" b="1" i="0">
                <a:solidFill>
                  <a:srgbClr val="16753A"/>
                </a:solidFill>
                <a:latin typeface="Arial"/>
              </a:rPr>
              <a:t>2,640万</a:t>
            </a:r>
          </a:p>
        </p:txBody>
      </p:sp>
      <p:sp>
        <p:nvSpPr>
          <p:cNvPr id="95" name="Rectangle 94"/>
          <p:cNvSpPr/>
          <p:nvPr/>
        </p:nvSpPr>
        <p:spPr>
          <a:xfrm>
            <a:off x="7230000" y="3380000"/>
            <a:ext cx="900000" cy="440000"/>
          </a:xfrm>
          <a:prstGeom prst="rect">
            <a:avLst/>
          </a:prstGeom>
          <a:solidFill>
            <a:srgbClr val="E8EE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260000" y="3460000"/>
            <a:ext cx="860000" cy="360000"/>
          </a:xfrm>
          <a:prstGeom prst="rect">
            <a:avLst/>
          </a:prstGeom>
          <a:noFill/>
        </p:spPr>
        <p:txBody>
          <a:bodyPr wrap="square">
            <a:spAutoFit/>
          </a:bodyPr>
          <a:lstStyle/>
          <a:p>
            <a:pPr algn="ctr"/>
            <a:r>
              <a:rPr sz="950" b="1" i="0">
                <a:solidFill>
                  <a:srgbClr val="1A1A2E"/>
                </a:solidFill>
                <a:latin typeface="Arial"/>
              </a:rPr>
              <a:t>49.2%</a:t>
            </a:r>
          </a:p>
        </p:txBody>
      </p:sp>
      <p:sp>
        <p:nvSpPr>
          <p:cNvPr id="97" name="Rectangle 96"/>
          <p:cNvSpPr/>
          <p:nvPr/>
        </p:nvSpPr>
        <p:spPr>
          <a:xfrm>
            <a:off x="0" y="6498000"/>
            <a:ext cx="12192000" cy="360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0" y="6498000"/>
            <a:ext cx="12192000" cy="26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60000" y="6548000"/>
            <a:ext cx="11472000" cy="280000"/>
          </a:xfrm>
          <a:prstGeom prst="rect">
            <a:avLst/>
          </a:prstGeom>
          <a:noFill/>
        </p:spPr>
        <p:txBody>
          <a:bodyPr wrap="square">
            <a:spAutoFit/>
          </a:bodyPr>
          <a:lstStyle/>
          <a:p>
            <a:pPr algn="l"/>
            <a:r>
              <a:rPr sz="800" b="0" i="0">
                <a:solidFill>
                  <a:srgbClr val="AAB8CC"/>
                </a:solidFill>
                <a:latin typeface="Arial"/>
              </a:rPr>
              <a:t>社外秘 — 取扱注意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0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0000" cy="680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000" y="100000"/>
            <a:ext cx="11692000" cy="480000"/>
          </a:xfrm>
          <a:prstGeom prst="rect">
            <a:avLst/>
          </a:prstGeom>
          <a:noFill/>
        </p:spPr>
        <p:txBody>
          <a:bodyPr wrap="square">
            <a:spAutoFit/>
          </a:bodyPr>
          <a:lstStyle/>
          <a:p>
            <a:pPr algn="l"/>
            <a:r>
              <a:rPr sz="1800" b="1" i="0">
                <a:solidFill>
                  <a:srgbClr val="FFFFFF"/>
                </a:solidFill>
                <a:latin typeface="Arial"/>
              </a:rPr>
              <a:t>売上分析</a:t>
            </a:r>
          </a:p>
        </p:txBody>
      </p:sp>
      <p:sp>
        <p:nvSpPr>
          <p:cNvPr id="6" name="TextBox 5"/>
          <p:cNvSpPr txBox="1"/>
          <p:nvPr/>
        </p:nvSpPr>
        <p:spPr>
          <a:xfrm>
            <a:off x="9992000" y="100000"/>
            <a:ext cx="2100000" cy="480000"/>
          </a:xfrm>
          <a:prstGeom prst="rect">
            <a:avLst/>
          </a:prstGeom>
          <a:noFill/>
        </p:spPr>
        <p:txBody>
          <a:bodyPr wrap="square">
            <a:spAutoFit/>
          </a:bodyPr>
          <a:lstStyle/>
          <a:p>
            <a:pPr algn="r"/>
            <a:r>
              <a:rPr sz="900" b="0" i="0">
                <a:solidFill>
                  <a:srgbClr val="CCD6E8"/>
                </a:solidFill>
                <a:latin typeface="Arial"/>
              </a:rPr>
              <a:t>2020年 第1四半期</a:t>
            </a:r>
          </a:p>
        </p:txBody>
      </p:sp>
      <p:sp>
        <p:nvSpPr>
          <p:cNvPr id="7" name="Rectangle 6"/>
          <p:cNvSpPr/>
          <p:nvPr/>
        </p:nvSpPr>
        <p:spPr>
          <a:xfrm>
            <a:off x="400000" y="820000"/>
            <a:ext cx="5636000" cy="563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0000" y="820000"/>
            <a:ext cx="5636000" cy="380000"/>
          </a:xfrm>
          <a:prstGeom prst="rect">
            <a:avLst/>
          </a:prstGeom>
          <a:solidFill>
            <a:srgbClr val="2C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0000" y="900000"/>
            <a:ext cx="5636000" cy="300000"/>
          </a:xfrm>
          <a:prstGeom prst="rect">
            <a:avLst/>
          </a:prstGeom>
          <a:noFill/>
        </p:spPr>
        <p:txBody>
          <a:bodyPr wrap="square">
            <a:spAutoFit/>
          </a:bodyPr>
          <a:lstStyle/>
          <a:p>
            <a:pPr algn="l"/>
            <a:r>
              <a:rPr sz="1100" b="1" i="0">
                <a:solidFill>
                  <a:srgbClr val="FFFFFF"/>
                </a:solidFill>
                <a:latin typeface="Arial"/>
              </a:rPr>
              <a:t>● 商品別売上構成</a:t>
            </a:r>
          </a:p>
        </p:txBody>
      </p:sp>
      <p:sp>
        <p:nvSpPr>
          <p:cNvPr id="10" name="Rectangle 9"/>
          <p:cNvSpPr/>
          <p:nvPr/>
        </p:nvSpPr>
        <p:spPr>
          <a:xfrm>
            <a:off x="520000" y="1240000"/>
            <a:ext cx="3987783" cy="160000"/>
          </a:xfrm>
          <a:prstGeom prst="rect">
            <a:avLst/>
          </a:prstGeom>
          <a:solidFill>
            <a:srgbClr val="1A5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0000" y="1410000"/>
            <a:ext cx="5556000" cy="200000"/>
          </a:xfrm>
          <a:prstGeom prst="rect">
            <a:avLst/>
          </a:prstGeom>
          <a:noFill/>
        </p:spPr>
        <p:txBody>
          <a:bodyPr wrap="square">
            <a:spAutoFit/>
          </a:bodyPr>
          <a:lstStyle/>
          <a:p>
            <a:pPr algn="l"/>
            <a:r>
              <a:rPr sz="850" b="0" i="0">
                <a:solidFill>
                  <a:srgbClr val="1A1A2E"/>
                </a:solidFill>
                <a:latin typeface="Arial"/>
              </a:rPr>
              <a:t>プレミアムプラン  1,050万 (39.8%)</a:t>
            </a:r>
          </a:p>
        </p:txBody>
      </p:sp>
      <p:sp>
        <p:nvSpPr>
          <p:cNvPr id="12" name="Rectangle 11"/>
          <p:cNvSpPr/>
          <p:nvPr/>
        </p:nvSpPr>
        <p:spPr>
          <a:xfrm>
            <a:off x="520000" y="1620000"/>
            <a:ext cx="2695260" cy="160000"/>
          </a:xfrm>
          <a:prstGeom prst="rect">
            <a:avLst/>
          </a:prstGeom>
          <a:solidFill>
            <a:srgbClr val="0E9F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0000" y="1790000"/>
            <a:ext cx="5556000" cy="200000"/>
          </a:xfrm>
          <a:prstGeom prst="rect">
            <a:avLst/>
          </a:prstGeom>
          <a:noFill/>
        </p:spPr>
        <p:txBody>
          <a:bodyPr wrap="square">
            <a:spAutoFit/>
          </a:bodyPr>
          <a:lstStyle/>
          <a:p>
            <a:pPr algn="l"/>
            <a:r>
              <a:rPr sz="850" b="0" i="0">
                <a:solidFill>
                  <a:srgbClr val="1A1A2E"/>
                </a:solidFill>
                <a:latin typeface="Arial"/>
              </a:rPr>
              <a:t>スタンダードプラン  710万 (26.9%)</a:t>
            </a:r>
          </a:p>
        </p:txBody>
      </p:sp>
      <p:sp>
        <p:nvSpPr>
          <p:cNvPr id="14" name="Rectangle 13"/>
          <p:cNvSpPr/>
          <p:nvPr/>
        </p:nvSpPr>
        <p:spPr>
          <a:xfrm>
            <a:off x="520000" y="2000000"/>
            <a:ext cx="2354595" cy="160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000" y="2170000"/>
            <a:ext cx="5556000" cy="200000"/>
          </a:xfrm>
          <a:prstGeom prst="rect">
            <a:avLst/>
          </a:prstGeom>
          <a:noFill/>
        </p:spPr>
        <p:txBody>
          <a:bodyPr wrap="square">
            <a:spAutoFit/>
          </a:bodyPr>
          <a:lstStyle/>
          <a:p>
            <a:pPr algn="l"/>
            <a:r>
              <a:rPr sz="850" b="0" i="0">
                <a:solidFill>
                  <a:srgbClr val="1A1A2E"/>
                </a:solidFill>
                <a:latin typeface="Arial"/>
              </a:rPr>
              <a:t>コンサルティング  620万 (23.5%)</a:t>
            </a:r>
          </a:p>
        </p:txBody>
      </p:sp>
      <p:sp>
        <p:nvSpPr>
          <p:cNvPr id="16" name="Rectangle 15"/>
          <p:cNvSpPr/>
          <p:nvPr/>
        </p:nvSpPr>
        <p:spPr>
          <a:xfrm>
            <a:off x="520000" y="2380000"/>
            <a:ext cx="981916" cy="160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0000" y="2550000"/>
            <a:ext cx="5556000" cy="200000"/>
          </a:xfrm>
          <a:prstGeom prst="rect">
            <a:avLst/>
          </a:prstGeom>
          <a:noFill/>
        </p:spPr>
        <p:txBody>
          <a:bodyPr wrap="square">
            <a:spAutoFit/>
          </a:bodyPr>
          <a:lstStyle/>
          <a:p>
            <a:pPr algn="l"/>
            <a:r>
              <a:rPr sz="850" b="0" i="0">
                <a:solidFill>
                  <a:srgbClr val="1A1A2E"/>
                </a:solidFill>
                <a:latin typeface="Arial"/>
              </a:rPr>
              <a:t>保守サポート  260万 (9.8%)</a:t>
            </a:r>
          </a:p>
        </p:txBody>
      </p:sp>
      <p:sp>
        <p:nvSpPr>
          <p:cNvPr id="18" name="Rectangle 17"/>
          <p:cNvSpPr/>
          <p:nvPr/>
        </p:nvSpPr>
        <p:spPr>
          <a:xfrm>
            <a:off x="6156000" y="820000"/>
            <a:ext cx="5636000" cy="563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56000" y="820000"/>
            <a:ext cx="5636000" cy="380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76000" y="900000"/>
            <a:ext cx="5636000" cy="300000"/>
          </a:xfrm>
          <a:prstGeom prst="rect">
            <a:avLst/>
          </a:prstGeom>
          <a:noFill/>
        </p:spPr>
        <p:txBody>
          <a:bodyPr wrap="square">
            <a:spAutoFit/>
          </a:bodyPr>
          <a:lstStyle/>
          <a:p>
            <a:pPr algn="l"/>
            <a:r>
              <a:rPr sz="1100" b="1" i="0">
                <a:solidFill>
                  <a:srgbClr val="1B2E4C"/>
                </a:solidFill>
                <a:latin typeface="Arial"/>
              </a:rPr>
              <a:t>● 地域別売上 &amp; 前Q比</a:t>
            </a:r>
          </a:p>
        </p:txBody>
      </p:sp>
      <p:sp>
        <p:nvSpPr>
          <p:cNvPr id="21" name="Rectangle 20"/>
          <p:cNvSpPr/>
          <p:nvPr/>
        </p:nvSpPr>
        <p:spPr>
          <a:xfrm>
            <a:off x="6276000" y="1260000"/>
            <a:ext cx="5436000" cy="200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16000" y="1280000"/>
            <a:ext cx="800000" cy="180000"/>
          </a:xfrm>
          <a:prstGeom prst="rect">
            <a:avLst/>
          </a:prstGeom>
          <a:noFill/>
        </p:spPr>
        <p:txBody>
          <a:bodyPr wrap="square">
            <a:spAutoFit/>
          </a:bodyPr>
          <a:lstStyle/>
          <a:p>
            <a:pPr algn="l"/>
            <a:r>
              <a:rPr sz="1000" b="1" i="0">
                <a:solidFill>
                  <a:srgbClr val="1A1A2E"/>
                </a:solidFill>
                <a:latin typeface="Arial"/>
              </a:rPr>
              <a:t>東京</a:t>
            </a:r>
          </a:p>
        </p:txBody>
      </p:sp>
      <p:sp>
        <p:nvSpPr>
          <p:cNvPr id="23" name="TextBox 22"/>
          <p:cNvSpPr txBox="1"/>
          <p:nvPr/>
        </p:nvSpPr>
        <p:spPr>
          <a:xfrm>
            <a:off x="7056000" y="1280000"/>
            <a:ext cx="700000" cy="180000"/>
          </a:xfrm>
          <a:prstGeom prst="rect">
            <a:avLst/>
          </a:prstGeom>
          <a:noFill/>
        </p:spPr>
        <p:txBody>
          <a:bodyPr wrap="square">
            <a:spAutoFit/>
          </a:bodyPr>
          <a:lstStyle/>
          <a:p>
            <a:pPr algn="r"/>
            <a:r>
              <a:rPr sz="1000" b="0" i="0">
                <a:solidFill>
                  <a:srgbClr val="1A1A2E"/>
                </a:solidFill>
                <a:latin typeface="Arial"/>
              </a:rPr>
              <a:t>1,010万</a:t>
            </a:r>
          </a:p>
        </p:txBody>
      </p:sp>
      <p:sp>
        <p:nvSpPr>
          <p:cNvPr id="24" name="TextBox 23"/>
          <p:cNvSpPr txBox="1"/>
          <p:nvPr/>
        </p:nvSpPr>
        <p:spPr>
          <a:xfrm>
            <a:off x="7776000" y="1280000"/>
            <a:ext cx="600000" cy="180000"/>
          </a:xfrm>
          <a:prstGeom prst="rect">
            <a:avLst/>
          </a:prstGeom>
          <a:noFill/>
        </p:spPr>
        <p:txBody>
          <a:bodyPr wrap="square">
            <a:spAutoFit/>
          </a:bodyPr>
          <a:lstStyle/>
          <a:p>
            <a:pPr algn="r"/>
            <a:r>
              <a:rPr sz="1000" b="1" i="0">
                <a:solidFill>
                  <a:srgbClr val="CC2828"/>
                </a:solidFill>
                <a:latin typeface="Arial"/>
              </a:rPr>
              <a:t>▲3.2%</a:t>
            </a:r>
          </a:p>
        </p:txBody>
      </p:sp>
      <p:sp>
        <p:nvSpPr>
          <p:cNvPr id="25" name="Rectangle 24"/>
          <p:cNvSpPr/>
          <p:nvPr/>
        </p:nvSpPr>
        <p:spPr>
          <a:xfrm>
            <a:off x="6276000" y="1540000"/>
            <a:ext cx="5436000" cy="200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16000" y="1560000"/>
            <a:ext cx="800000" cy="180000"/>
          </a:xfrm>
          <a:prstGeom prst="rect">
            <a:avLst/>
          </a:prstGeom>
          <a:noFill/>
        </p:spPr>
        <p:txBody>
          <a:bodyPr wrap="square">
            <a:spAutoFit/>
          </a:bodyPr>
          <a:lstStyle/>
          <a:p>
            <a:pPr algn="l"/>
            <a:r>
              <a:rPr sz="1000" b="1" i="0">
                <a:solidFill>
                  <a:srgbClr val="1A1A2E"/>
                </a:solidFill>
                <a:latin typeface="Arial"/>
              </a:rPr>
              <a:t>大阪</a:t>
            </a:r>
          </a:p>
        </p:txBody>
      </p:sp>
      <p:sp>
        <p:nvSpPr>
          <p:cNvPr id="27" name="TextBox 26"/>
          <p:cNvSpPr txBox="1"/>
          <p:nvPr/>
        </p:nvSpPr>
        <p:spPr>
          <a:xfrm>
            <a:off x="7056000" y="1560000"/>
            <a:ext cx="700000" cy="180000"/>
          </a:xfrm>
          <a:prstGeom prst="rect">
            <a:avLst/>
          </a:prstGeom>
          <a:noFill/>
        </p:spPr>
        <p:txBody>
          <a:bodyPr wrap="square">
            <a:spAutoFit/>
          </a:bodyPr>
          <a:lstStyle/>
          <a:p>
            <a:pPr algn="r"/>
            <a:r>
              <a:rPr sz="1000" b="0" i="0">
                <a:solidFill>
                  <a:srgbClr val="1A1A2E"/>
                </a:solidFill>
                <a:latin typeface="Arial"/>
              </a:rPr>
              <a:t>750万</a:t>
            </a:r>
          </a:p>
        </p:txBody>
      </p:sp>
      <p:sp>
        <p:nvSpPr>
          <p:cNvPr id="28" name="TextBox 27"/>
          <p:cNvSpPr txBox="1"/>
          <p:nvPr/>
        </p:nvSpPr>
        <p:spPr>
          <a:xfrm>
            <a:off x="7776000" y="1560000"/>
            <a:ext cx="600000" cy="180000"/>
          </a:xfrm>
          <a:prstGeom prst="rect">
            <a:avLst/>
          </a:prstGeom>
          <a:noFill/>
        </p:spPr>
        <p:txBody>
          <a:bodyPr wrap="square">
            <a:spAutoFit/>
          </a:bodyPr>
          <a:lstStyle/>
          <a:p>
            <a:pPr algn="r"/>
            <a:r>
              <a:rPr sz="1000" b="1" i="0">
                <a:solidFill>
                  <a:srgbClr val="16753A"/>
                </a:solidFill>
                <a:latin typeface="Arial"/>
              </a:rPr>
              <a:t>+1.1%</a:t>
            </a:r>
          </a:p>
        </p:txBody>
      </p:sp>
      <p:sp>
        <p:nvSpPr>
          <p:cNvPr id="29" name="Rectangle 28"/>
          <p:cNvSpPr/>
          <p:nvPr/>
        </p:nvSpPr>
        <p:spPr>
          <a:xfrm>
            <a:off x="6276000" y="1820000"/>
            <a:ext cx="5436000" cy="200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16000" y="1840000"/>
            <a:ext cx="800000" cy="180000"/>
          </a:xfrm>
          <a:prstGeom prst="rect">
            <a:avLst/>
          </a:prstGeom>
          <a:noFill/>
        </p:spPr>
        <p:txBody>
          <a:bodyPr wrap="square">
            <a:spAutoFit/>
          </a:bodyPr>
          <a:lstStyle/>
          <a:p>
            <a:pPr algn="l"/>
            <a:r>
              <a:rPr sz="1000" b="1" i="0">
                <a:solidFill>
                  <a:srgbClr val="1A1A2E"/>
                </a:solidFill>
                <a:latin typeface="Arial"/>
              </a:rPr>
              <a:t>名古屋</a:t>
            </a:r>
          </a:p>
        </p:txBody>
      </p:sp>
      <p:sp>
        <p:nvSpPr>
          <p:cNvPr id="31" name="TextBox 30"/>
          <p:cNvSpPr txBox="1"/>
          <p:nvPr/>
        </p:nvSpPr>
        <p:spPr>
          <a:xfrm>
            <a:off x="7056000" y="1840000"/>
            <a:ext cx="700000" cy="180000"/>
          </a:xfrm>
          <a:prstGeom prst="rect">
            <a:avLst/>
          </a:prstGeom>
          <a:noFill/>
        </p:spPr>
        <p:txBody>
          <a:bodyPr wrap="square">
            <a:spAutoFit/>
          </a:bodyPr>
          <a:lstStyle/>
          <a:p>
            <a:pPr algn="r"/>
            <a:r>
              <a:rPr sz="1000" b="0" i="0">
                <a:solidFill>
                  <a:srgbClr val="1A1A2E"/>
                </a:solidFill>
                <a:latin typeface="Arial"/>
              </a:rPr>
              <a:t>530万</a:t>
            </a:r>
          </a:p>
        </p:txBody>
      </p:sp>
      <p:sp>
        <p:nvSpPr>
          <p:cNvPr id="32" name="TextBox 31"/>
          <p:cNvSpPr txBox="1"/>
          <p:nvPr/>
        </p:nvSpPr>
        <p:spPr>
          <a:xfrm>
            <a:off x="7776000" y="1840000"/>
            <a:ext cx="600000" cy="180000"/>
          </a:xfrm>
          <a:prstGeom prst="rect">
            <a:avLst/>
          </a:prstGeom>
          <a:noFill/>
        </p:spPr>
        <p:txBody>
          <a:bodyPr wrap="square">
            <a:spAutoFit/>
          </a:bodyPr>
          <a:lstStyle/>
          <a:p>
            <a:pPr algn="r"/>
            <a:r>
              <a:rPr sz="1000" b="1" i="0">
                <a:solidFill>
                  <a:srgbClr val="CC2828"/>
                </a:solidFill>
                <a:latin typeface="Arial"/>
              </a:rPr>
              <a:t>▲2.5%</a:t>
            </a:r>
          </a:p>
        </p:txBody>
      </p:sp>
      <p:sp>
        <p:nvSpPr>
          <p:cNvPr id="33" name="Rectangle 32"/>
          <p:cNvSpPr/>
          <p:nvPr/>
        </p:nvSpPr>
        <p:spPr>
          <a:xfrm>
            <a:off x="6276000" y="2100000"/>
            <a:ext cx="5436000" cy="200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16000" y="2120000"/>
            <a:ext cx="800000" cy="180000"/>
          </a:xfrm>
          <a:prstGeom prst="rect">
            <a:avLst/>
          </a:prstGeom>
          <a:noFill/>
        </p:spPr>
        <p:txBody>
          <a:bodyPr wrap="square">
            <a:spAutoFit/>
          </a:bodyPr>
          <a:lstStyle/>
          <a:p>
            <a:pPr algn="l"/>
            <a:r>
              <a:rPr sz="1000" b="1" i="0">
                <a:solidFill>
                  <a:srgbClr val="1A1A2E"/>
                </a:solidFill>
                <a:latin typeface="Arial"/>
              </a:rPr>
              <a:t>福岡</a:t>
            </a:r>
          </a:p>
        </p:txBody>
      </p:sp>
      <p:sp>
        <p:nvSpPr>
          <p:cNvPr id="35" name="TextBox 34"/>
          <p:cNvSpPr txBox="1"/>
          <p:nvPr/>
        </p:nvSpPr>
        <p:spPr>
          <a:xfrm>
            <a:off x="7056000" y="2120000"/>
            <a:ext cx="700000" cy="180000"/>
          </a:xfrm>
          <a:prstGeom prst="rect">
            <a:avLst/>
          </a:prstGeom>
          <a:noFill/>
        </p:spPr>
        <p:txBody>
          <a:bodyPr wrap="square">
            <a:spAutoFit/>
          </a:bodyPr>
          <a:lstStyle/>
          <a:p>
            <a:pPr algn="r"/>
            <a:r>
              <a:rPr sz="1000" b="0" i="0">
                <a:solidFill>
                  <a:srgbClr val="1A1A2E"/>
                </a:solidFill>
                <a:latin typeface="Arial"/>
              </a:rPr>
              <a:t>220万</a:t>
            </a:r>
          </a:p>
        </p:txBody>
      </p:sp>
      <p:sp>
        <p:nvSpPr>
          <p:cNvPr id="36" name="TextBox 35"/>
          <p:cNvSpPr txBox="1"/>
          <p:nvPr/>
        </p:nvSpPr>
        <p:spPr>
          <a:xfrm>
            <a:off x="7776000" y="2120000"/>
            <a:ext cx="600000" cy="180000"/>
          </a:xfrm>
          <a:prstGeom prst="rect">
            <a:avLst/>
          </a:prstGeom>
          <a:noFill/>
        </p:spPr>
        <p:txBody>
          <a:bodyPr wrap="square">
            <a:spAutoFit/>
          </a:bodyPr>
          <a:lstStyle/>
          <a:p>
            <a:pPr algn="r"/>
            <a:r>
              <a:rPr sz="1000" b="1" i="0">
                <a:solidFill>
                  <a:srgbClr val="CC2828"/>
                </a:solidFill>
                <a:latin typeface="Arial"/>
              </a:rPr>
              <a:t>▲8.4%</a:t>
            </a:r>
          </a:p>
        </p:txBody>
      </p:sp>
      <p:sp>
        <p:nvSpPr>
          <p:cNvPr id="37" name="Rectangle 36"/>
          <p:cNvSpPr/>
          <p:nvPr/>
        </p:nvSpPr>
        <p:spPr>
          <a:xfrm>
            <a:off x="6276000" y="2380000"/>
            <a:ext cx="5436000" cy="200000"/>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16000" y="2400000"/>
            <a:ext cx="800000" cy="180000"/>
          </a:xfrm>
          <a:prstGeom prst="rect">
            <a:avLst/>
          </a:prstGeom>
          <a:noFill/>
        </p:spPr>
        <p:txBody>
          <a:bodyPr wrap="square">
            <a:spAutoFit/>
          </a:bodyPr>
          <a:lstStyle/>
          <a:p>
            <a:pPr algn="l"/>
            <a:r>
              <a:rPr sz="1000" b="1" i="0">
                <a:solidFill>
                  <a:srgbClr val="1A1A2E"/>
                </a:solidFill>
                <a:latin typeface="Arial"/>
              </a:rPr>
              <a:t>札幌</a:t>
            </a:r>
          </a:p>
        </p:txBody>
      </p:sp>
      <p:sp>
        <p:nvSpPr>
          <p:cNvPr id="39" name="TextBox 38"/>
          <p:cNvSpPr txBox="1"/>
          <p:nvPr/>
        </p:nvSpPr>
        <p:spPr>
          <a:xfrm>
            <a:off x="7056000" y="2400000"/>
            <a:ext cx="700000" cy="180000"/>
          </a:xfrm>
          <a:prstGeom prst="rect">
            <a:avLst/>
          </a:prstGeom>
          <a:noFill/>
        </p:spPr>
        <p:txBody>
          <a:bodyPr wrap="square">
            <a:spAutoFit/>
          </a:bodyPr>
          <a:lstStyle/>
          <a:p>
            <a:pPr algn="r"/>
            <a:r>
              <a:rPr sz="1000" b="0" i="0">
                <a:solidFill>
                  <a:srgbClr val="1A1A2E"/>
                </a:solidFill>
                <a:latin typeface="Arial"/>
              </a:rPr>
              <a:t>130万</a:t>
            </a:r>
          </a:p>
        </p:txBody>
      </p:sp>
      <p:sp>
        <p:nvSpPr>
          <p:cNvPr id="40" name="TextBox 39"/>
          <p:cNvSpPr txBox="1"/>
          <p:nvPr/>
        </p:nvSpPr>
        <p:spPr>
          <a:xfrm>
            <a:off x="7776000" y="2400000"/>
            <a:ext cx="600000" cy="180000"/>
          </a:xfrm>
          <a:prstGeom prst="rect">
            <a:avLst/>
          </a:prstGeom>
          <a:noFill/>
        </p:spPr>
        <p:txBody>
          <a:bodyPr wrap="square">
            <a:spAutoFit/>
          </a:bodyPr>
          <a:lstStyle/>
          <a:p>
            <a:pPr algn="r"/>
            <a:r>
              <a:rPr sz="1000" b="1" i="0">
                <a:solidFill>
                  <a:srgbClr val="CC2828"/>
                </a:solidFill>
                <a:latin typeface="Arial"/>
              </a:rPr>
              <a:t>▲12.1%</a:t>
            </a:r>
          </a:p>
        </p:txBody>
      </p:sp>
      <p:sp>
        <p:nvSpPr>
          <p:cNvPr id="41" name="Rectangle 40"/>
          <p:cNvSpPr/>
          <p:nvPr/>
        </p:nvSpPr>
        <p:spPr>
          <a:xfrm>
            <a:off x="0" y="6498000"/>
            <a:ext cx="12192000" cy="360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6498000"/>
            <a:ext cx="12192000" cy="26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0000" y="6548000"/>
            <a:ext cx="11472000" cy="280000"/>
          </a:xfrm>
          <a:prstGeom prst="rect">
            <a:avLst/>
          </a:prstGeom>
          <a:noFill/>
        </p:spPr>
        <p:txBody>
          <a:bodyPr wrap="square">
            <a:spAutoFit/>
          </a:bodyPr>
          <a:lstStyle/>
          <a:p>
            <a:pPr algn="l"/>
            <a:r>
              <a:rPr sz="800" b="0" i="0">
                <a:solidFill>
                  <a:srgbClr val="AAB8CC"/>
                </a:solidFill>
                <a:latin typeface="Arial"/>
              </a:rPr>
              <a:t>社外秘 — 取扱注意</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680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0000" cy="680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0000" y="100000"/>
            <a:ext cx="11692000" cy="480000"/>
          </a:xfrm>
          <a:prstGeom prst="rect">
            <a:avLst/>
          </a:prstGeom>
          <a:noFill/>
        </p:spPr>
        <p:txBody>
          <a:bodyPr wrap="square">
            <a:spAutoFit/>
          </a:bodyPr>
          <a:lstStyle/>
          <a:p>
            <a:pPr algn="l"/>
            <a:r>
              <a:rPr sz="1800" b="1" i="0">
                <a:solidFill>
                  <a:srgbClr val="FFFFFF"/>
                </a:solidFill>
                <a:latin typeface="Arial"/>
              </a:rPr>
              <a:t>現状分析：強み・課題と今後の方針</a:t>
            </a:r>
          </a:p>
        </p:txBody>
      </p:sp>
      <p:sp>
        <p:nvSpPr>
          <p:cNvPr id="6" name="Rectangle 5"/>
          <p:cNvSpPr/>
          <p:nvPr/>
        </p:nvSpPr>
        <p:spPr>
          <a:xfrm>
            <a:off x="400000" y="800000"/>
            <a:ext cx="3730666" cy="55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0000" y="800000"/>
            <a:ext cx="3730666" cy="400000"/>
          </a:xfrm>
          <a:prstGeom prst="rect">
            <a:avLst/>
          </a:prstGeom>
          <a:solidFill>
            <a:srgbClr val="1675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0000" y="860000"/>
            <a:ext cx="3630666" cy="300000"/>
          </a:xfrm>
          <a:prstGeom prst="rect">
            <a:avLst/>
          </a:prstGeom>
          <a:noFill/>
        </p:spPr>
        <p:txBody>
          <a:bodyPr wrap="square">
            <a:spAutoFit/>
          </a:bodyPr>
          <a:lstStyle/>
          <a:p>
            <a:pPr algn="l"/>
            <a:r>
              <a:rPr sz="1100" b="1" i="0">
                <a:solidFill>
                  <a:srgbClr val="FFFFFF"/>
                </a:solidFill>
                <a:latin typeface="Arial"/>
              </a:rPr>
              <a:t>◎  強み・安定要因</a:t>
            </a:r>
          </a:p>
        </p:txBody>
      </p:sp>
      <p:sp>
        <p:nvSpPr>
          <p:cNvPr id="9" name="TextBox 8"/>
          <p:cNvSpPr txBox="1"/>
          <p:nvPr/>
        </p:nvSpPr>
        <p:spPr>
          <a:xfrm>
            <a:off x="480000" y="1260000"/>
            <a:ext cx="3570666" cy="5058000"/>
          </a:xfrm>
          <a:prstGeom prst="rect">
            <a:avLst/>
          </a:prstGeom>
          <a:noFill/>
        </p:spPr>
        <p:txBody>
          <a:bodyPr wrap="square">
            <a:spAutoFit/>
          </a:bodyPr>
          <a:lstStyle/>
          <a:p>
            <a:pPr>
              <a:spcBef>
                <a:spcPts val="600"/>
              </a:spcBef>
            </a:pPr>
            <a:r>
              <a:rPr sz="950">
                <a:solidFill>
                  <a:srgbClr val="1A1A2E"/>
                </a:solidFill>
                <a:latin typeface="Arial"/>
              </a:rPr>
              <a:t>• 保守サポートが景気変動に左右されない安定収益を維持</a:t>
            </a:r>
          </a:p>
          <a:p>
            <a:pPr>
              <a:spcBef>
                <a:spcPts val="600"/>
              </a:spcBef>
            </a:pPr>
            <a:r>
              <a:rPr sz="950">
                <a:solidFill>
                  <a:srgbClr val="1A1A2E"/>
                </a:solidFill>
                <a:latin typeface="Arial"/>
              </a:rPr>
              <a:t>• 大阪エリアのみ前Q比プラスを維持し基盤の底堅さを証明</a:t>
            </a:r>
          </a:p>
          <a:p>
            <a:pPr>
              <a:spcBef>
                <a:spcPts val="600"/>
              </a:spcBef>
            </a:pPr>
            <a:r>
              <a:rPr sz="950">
                <a:solidFill>
                  <a:srgbClr val="1A1A2E"/>
                </a:solidFill>
                <a:latin typeface="Arial"/>
              </a:rPr>
              <a:t>• プレミアムPの顧客離脱率が低く LTV（顧客生涯価値）は高水準</a:t>
            </a:r>
          </a:p>
          <a:p>
            <a:pPr>
              <a:spcBef>
                <a:spcPts val="600"/>
              </a:spcBef>
            </a:pPr>
            <a:r>
              <a:rPr sz="950">
                <a:solidFill>
                  <a:srgbClr val="1A1A2E"/>
                </a:solidFill>
                <a:latin typeface="Arial"/>
              </a:rPr>
              <a:t>• 既存顧客からの継続受注が全売上の 62% を占め収益を下支え</a:t>
            </a:r>
          </a:p>
        </p:txBody>
      </p:sp>
      <p:sp>
        <p:nvSpPr>
          <p:cNvPr id="10" name="Rectangle 9"/>
          <p:cNvSpPr/>
          <p:nvPr/>
        </p:nvSpPr>
        <p:spPr>
          <a:xfrm>
            <a:off x="4230666" y="800000"/>
            <a:ext cx="3730666" cy="55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30666" y="800000"/>
            <a:ext cx="3730666" cy="400000"/>
          </a:xfrm>
          <a:prstGeom prst="rect">
            <a:avLst/>
          </a:prstGeom>
          <a:solidFill>
            <a:srgbClr val="CC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10666" y="860000"/>
            <a:ext cx="3630666" cy="300000"/>
          </a:xfrm>
          <a:prstGeom prst="rect">
            <a:avLst/>
          </a:prstGeom>
          <a:noFill/>
        </p:spPr>
        <p:txBody>
          <a:bodyPr wrap="square">
            <a:spAutoFit/>
          </a:bodyPr>
          <a:lstStyle/>
          <a:p>
            <a:pPr algn="l"/>
            <a:r>
              <a:rPr sz="1100" b="1" i="0">
                <a:solidFill>
                  <a:srgbClr val="FFFFFF"/>
                </a:solidFill>
                <a:latin typeface="Arial"/>
              </a:rPr>
              <a:t>▲  課題・リスク</a:t>
            </a:r>
          </a:p>
        </p:txBody>
      </p:sp>
      <p:sp>
        <p:nvSpPr>
          <p:cNvPr id="13" name="TextBox 12"/>
          <p:cNvSpPr txBox="1"/>
          <p:nvPr/>
        </p:nvSpPr>
        <p:spPr>
          <a:xfrm>
            <a:off x="4310666" y="1260000"/>
            <a:ext cx="3570666" cy="5058000"/>
          </a:xfrm>
          <a:prstGeom prst="rect">
            <a:avLst/>
          </a:prstGeom>
          <a:noFill/>
        </p:spPr>
        <p:txBody>
          <a:bodyPr wrap="square">
            <a:spAutoFit/>
          </a:bodyPr>
          <a:lstStyle/>
          <a:p>
            <a:pPr>
              <a:spcBef>
                <a:spcPts val="600"/>
              </a:spcBef>
            </a:pPr>
            <a:r>
              <a:rPr sz="950">
                <a:solidFill>
                  <a:srgbClr val="1A1A2E"/>
                </a:solidFill>
                <a:latin typeface="Arial"/>
              </a:rPr>
              <a:t>• 新型コロナウイルスの感染拡大により対面商談が事実上停止</a:t>
            </a:r>
          </a:p>
          <a:p>
            <a:pPr>
              <a:spcBef>
                <a:spcPts val="600"/>
              </a:spcBef>
            </a:pPr>
            <a:r>
              <a:rPr sz="950">
                <a:solidFill>
                  <a:srgbClr val="1A1A2E"/>
                </a:solidFill>
                <a:latin typeface="Arial"/>
              </a:rPr>
              <a:t>• コンサルティング売上が前Q比 ▲31% と大幅に落ち込む</a:t>
            </a:r>
          </a:p>
          <a:p>
            <a:pPr>
              <a:spcBef>
                <a:spcPts val="600"/>
              </a:spcBef>
            </a:pPr>
            <a:r>
              <a:rPr sz="950">
                <a:solidFill>
                  <a:srgbClr val="1A1A2E"/>
                </a:solidFill>
                <a:latin typeface="Arial"/>
              </a:rPr>
              <a:t>• 北海道・九州エリアで担当者の外出自粛による失注が多発</a:t>
            </a:r>
          </a:p>
          <a:p>
            <a:pPr>
              <a:spcBef>
                <a:spcPts val="600"/>
              </a:spcBef>
            </a:pPr>
            <a:r>
              <a:rPr sz="950">
                <a:solidFill>
                  <a:srgbClr val="1A1A2E"/>
                </a:solidFill>
                <a:latin typeface="Arial"/>
              </a:rPr>
              <a:t>• 新規顧客獲得件数が前Q比 ▲47% と急減しパイプラインが枯渇</a:t>
            </a:r>
          </a:p>
        </p:txBody>
      </p:sp>
      <p:sp>
        <p:nvSpPr>
          <p:cNvPr id="14" name="Rectangle 13"/>
          <p:cNvSpPr/>
          <p:nvPr/>
        </p:nvSpPr>
        <p:spPr>
          <a:xfrm>
            <a:off x="8061332" y="800000"/>
            <a:ext cx="3730666" cy="55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61332" y="800000"/>
            <a:ext cx="3730666" cy="400000"/>
          </a:xfrm>
          <a:prstGeom prst="rect">
            <a:avLst/>
          </a:prstGeom>
          <a:solidFill>
            <a:srgbClr val="1A5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41332" y="860000"/>
            <a:ext cx="3630666" cy="300000"/>
          </a:xfrm>
          <a:prstGeom prst="rect">
            <a:avLst/>
          </a:prstGeom>
          <a:noFill/>
        </p:spPr>
        <p:txBody>
          <a:bodyPr wrap="square">
            <a:spAutoFit/>
          </a:bodyPr>
          <a:lstStyle/>
          <a:p>
            <a:pPr algn="l"/>
            <a:r>
              <a:rPr sz="1100" b="1" i="0">
                <a:solidFill>
                  <a:srgbClr val="FFFFFF"/>
                </a:solidFill>
                <a:latin typeface="Arial"/>
              </a:rPr>
              <a:t>→  今後の方針</a:t>
            </a:r>
          </a:p>
        </p:txBody>
      </p:sp>
      <p:sp>
        <p:nvSpPr>
          <p:cNvPr id="17" name="TextBox 16"/>
          <p:cNvSpPr txBox="1"/>
          <p:nvPr/>
        </p:nvSpPr>
        <p:spPr>
          <a:xfrm>
            <a:off x="8141332" y="1260000"/>
            <a:ext cx="3570666" cy="5058000"/>
          </a:xfrm>
          <a:prstGeom prst="rect">
            <a:avLst/>
          </a:prstGeom>
          <a:noFill/>
        </p:spPr>
        <p:txBody>
          <a:bodyPr wrap="square">
            <a:spAutoFit/>
          </a:bodyPr>
          <a:lstStyle/>
          <a:p>
            <a:pPr>
              <a:spcBef>
                <a:spcPts val="600"/>
              </a:spcBef>
            </a:pPr>
            <a:r>
              <a:rPr sz="950">
                <a:solidFill>
                  <a:srgbClr val="1A1A2E"/>
                </a:solidFill>
                <a:latin typeface="Arial"/>
              </a:rPr>
              <a:t>• オンライン商談ツール（Zoom/Teams）を全拠点に即時導入</a:t>
            </a:r>
          </a:p>
          <a:p>
            <a:pPr>
              <a:spcBef>
                <a:spcPts val="600"/>
              </a:spcBef>
            </a:pPr>
            <a:r>
              <a:rPr sz="950">
                <a:solidFill>
                  <a:srgbClr val="1A1A2E"/>
                </a:solidFill>
                <a:latin typeface="Arial"/>
              </a:rPr>
              <a:t>• コンサルティングをオンライン完結型へ改変し早期売上回復を図る</a:t>
            </a:r>
          </a:p>
          <a:p>
            <a:pPr>
              <a:spcBef>
                <a:spcPts val="600"/>
              </a:spcBef>
            </a:pPr>
            <a:r>
              <a:rPr sz="950">
                <a:solidFill>
                  <a:srgbClr val="1A1A2E"/>
                </a:solidFill>
                <a:latin typeface="Arial"/>
              </a:rPr>
              <a:t>• 既存顧客への保守S拡張提案を強化し解約防止とアップセルを推進</a:t>
            </a:r>
          </a:p>
          <a:p>
            <a:pPr>
              <a:spcBef>
                <a:spcPts val="600"/>
              </a:spcBef>
            </a:pPr>
            <a:r>
              <a:rPr sz="950">
                <a:solidFill>
                  <a:srgbClr val="1A1A2E"/>
                </a:solidFill>
                <a:latin typeface="Arial"/>
              </a:rPr>
              <a:t>• Q2 に向けウェビナー形式の新規リード獲得施策を月 2 回実施</a:t>
            </a:r>
          </a:p>
        </p:txBody>
      </p:sp>
      <p:sp>
        <p:nvSpPr>
          <p:cNvPr id="18" name="Rectangle 17"/>
          <p:cNvSpPr/>
          <p:nvPr/>
        </p:nvSpPr>
        <p:spPr>
          <a:xfrm>
            <a:off x="0" y="6498000"/>
            <a:ext cx="12192000" cy="360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6498000"/>
            <a:ext cx="12192000" cy="26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000" y="6548000"/>
            <a:ext cx="11472000" cy="280000"/>
          </a:xfrm>
          <a:prstGeom prst="rect">
            <a:avLst/>
          </a:prstGeom>
          <a:noFill/>
        </p:spPr>
        <p:txBody>
          <a:bodyPr wrap="square">
            <a:spAutoFit/>
          </a:bodyPr>
          <a:lstStyle/>
          <a:p>
            <a:pPr algn="l"/>
            <a:r>
              <a:rPr sz="800" b="0" i="0">
                <a:solidFill>
                  <a:srgbClr val="AAB8CC"/>
                </a:solidFill>
                <a:latin typeface="Arial"/>
              </a:rPr>
              <a:t>社外秘 — 取扱注意</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0000" cy="6858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20000" y="3419000"/>
            <a:ext cx="11972000" cy="20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0000" y="900000"/>
            <a:ext cx="11692000" cy="600000"/>
          </a:xfrm>
          <a:prstGeom prst="rect">
            <a:avLst/>
          </a:prstGeom>
          <a:noFill/>
        </p:spPr>
        <p:txBody>
          <a:bodyPr wrap="square">
            <a:spAutoFit/>
          </a:bodyPr>
          <a:lstStyle/>
          <a:p>
            <a:pPr algn="l"/>
            <a:r>
              <a:rPr sz="2800" b="1" i="0">
                <a:solidFill>
                  <a:srgbClr val="C4973E"/>
                </a:solidFill>
                <a:latin typeface="Arial"/>
              </a:rPr>
              <a:t>まとめ</a:t>
            </a:r>
          </a:p>
        </p:txBody>
      </p:sp>
      <p:sp>
        <p:nvSpPr>
          <p:cNvPr id="6" name="TextBox 5"/>
          <p:cNvSpPr txBox="1"/>
          <p:nvPr/>
        </p:nvSpPr>
        <p:spPr>
          <a:xfrm>
            <a:off x="400000" y="1600000"/>
            <a:ext cx="11592000" cy="3600000"/>
          </a:xfrm>
          <a:prstGeom prst="rect">
            <a:avLst/>
          </a:prstGeom>
          <a:noFill/>
        </p:spPr>
        <p:txBody>
          <a:bodyPr wrap="square">
            <a:spAutoFit/>
          </a:bodyPr>
          <a:lstStyle/>
          <a:p>
            <a:pPr>
              <a:spcBef>
                <a:spcPts val="1000"/>
              </a:spcBef>
            </a:pPr>
            <a:r>
              <a:rPr sz="1200" b="1">
                <a:solidFill>
                  <a:srgbClr val="FFFFFF"/>
                </a:solidFill>
                <a:latin typeface="Arial"/>
              </a:rPr>
              <a:t>  ✓  Q1 総売上 2,640万円 (前Q比 ▲5.2%) — コロナ禍により減収</a:t>
            </a:r>
          </a:p>
          <a:p>
            <a:pPr>
              <a:spcBef>
                <a:spcPts val="1000"/>
              </a:spcBef>
            </a:pPr>
            <a:r>
              <a:rPr sz="1200" b="0">
                <a:solidFill>
                  <a:srgbClr val="FFFFFF"/>
                </a:solidFill>
                <a:latin typeface="Arial"/>
              </a:rPr>
              <a:t>  ✓  コンサルティングが対面停止で ▲31% と最大の下落要因</a:t>
            </a:r>
          </a:p>
          <a:p>
            <a:pPr>
              <a:spcBef>
                <a:spcPts val="1000"/>
              </a:spcBef>
            </a:pPr>
            <a:r>
              <a:rPr sz="1200" b="0">
                <a:solidFill>
                  <a:srgbClr val="FFFFFF"/>
                </a:solidFill>
                <a:latin typeface="Arial"/>
              </a:rPr>
              <a:t>  ✓  保守サポート・大阪エリアが下支えとなり影響を最小化</a:t>
            </a:r>
          </a:p>
          <a:p>
            <a:pPr>
              <a:spcBef>
                <a:spcPts val="1000"/>
              </a:spcBef>
            </a:pPr>
            <a:r>
              <a:rPr sz="1200" b="0">
                <a:solidFill>
                  <a:srgbClr val="FFFFFF"/>
                </a:solidFill>
                <a:latin typeface="Arial"/>
              </a:rPr>
              <a:t>  ✓  オンライン商談への全面移行で Q2 の早期回復を目指す</a:t>
            </a:r>
          </a:p>
          <a:p>
            <a:pPr>
              <a:spcBef>
                <a:spcPts val="1000"/>
              </a:spcBef>
            </a:pPr>
            <a:r>
              <a:rPr sz="1200" b="0">
                <a:solidFill>
                  <a:srgbClr val="FFFFFF"/>
                </a:solidFill>
                <a:latin typeface="Arial"/>
              </a:rPr>
              <a:t>  ✓  既存顧客深耕とウェビナー施策で新規パイプラインを再構築する</a:t>
            </a:r>
          </a:p>
        </p:txBody>
      </p:sp>
      <p:sp>
        <p:nvSpPr>
          <p:cNvPr id="7" name="TextBox 6"/>
          <p:cNvSpPr txBox="1"/>
          <p:nvPr/>
        </p:nvSpPr>
        <p:spPr>
          <a:xfrm>
            <a:off x="400000" y="5758000"/>
            <a:ext cx="11692000" cy="300000"/>
          </a:xfrm>
          <a:prstGeom prst="rect">
            <a:avLst/>
          </a:prstGeom>
          <a:noFill/>
        </p:spPr>
        <p:txBody>
          <a:bodyPr wrap="square">
            <a:spAutoFit/>
          </a:bodyPr>
          <a:lstStyle/>
          <a:p>
            <a:pPr algn="l"/>
            <a:r>
              <a:rPr sz="1100" b="0" i="0">
                <a:solidFill>
                  <a:srgbClr val="CCD6E8"/>
                </a:solidFill>
                <a:latin typeface="Arial"/>
              </a:rPr>
              <a:t>次回レビュー: 2020年7月（Q2報告）</a:t>
            </a:r>
          </a:p>
        </p:txBody>
      </p:sp>
      <p:sp>
        <p:nvSpPr>
          <p:cNvPr id="8" name="Rectangle 7"/>
          <p:cNvSpPr/>
          <p:nvPr/>
        </p:nvSpPr>
        <p:spPr>
          <a:xfrm>
            <a:off x="0" y="6498000"/>
            <a:ext cx="12192000" cy="360000"/>
          </a:xfrm>
          <a:prstGeom prst="rect">
            <a:avLst/>
          </a:prstGeom>
          <a:solidFill>
            <a:srgbClr val="1B2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498000"/>
            <a:ext cx="12192000" cy="26000"/>
          </a:xfrm>
          <a:prstGeom prst="rect">
            <a:avLst/>
          </a:prstGeom>
          <a:solidFill>
            <a:srgbClr val="C4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000" y="6548000"/>
            <a:ext cx="11472000" cy="280000"/>
          </a:xfrm>
          <a:prstGeom prst="rect">
            <a:avLst/>
          </a:prstGeom>
          <a:noFill/>
        </p:spPr>
        <p:txBody>
          <a:bodyPr wrap="square">
            <a:spAutoFit/>
          </a:bodyPr>
          <a:lstStyle/>
          <a:p>
            <a:pPr algn="l"/>
            <a:r>
              <a:rPr sz="800" b="0" i="0">
                <a:solidFill>
                  <a:srgbClr val="AAB8CC"/>
                </a:solidFill>
                <a:latin typeface="Arial"/>
              </a:rPr>
              <a:t>Confidential  |  Sales Report 2020年 第1四半期  |  株式会社サンプル商事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